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9" r:id="rId12"/>
    <p:sldId id="266" r:id="rId13"/>
    <p:sldId id="267"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10"/>
  </p:normalViewPr>
  <p:slideViewPr>
    <p:cSldViewPr snapToGrid="0" snapToObjects="1">
      <p:cViewPr varScale="1">
        <p:scale>
          <a:sx n="44" d="100"/>
          <a:sy n="44" d="100"/>
        </p:scale>
        <p:origin x="108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90785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DA8CB-A6A9-74B5-83FB-3E5454827B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52D026-E3DD-480F-6B1C-4036EDB356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DB641F-5877-3F9D-DE2B-234AB185EA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D6E053-00A1-8D73-A35A-C065CCF3D8A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985013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6.jpeg"/><Relationship Id="rId7"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761981" y="1285875"/>
            <a:ext cx="7620009" cy="2571750"/>
          </a:xfrm>
          <a:prstGeom prst="rect">
            <a:avLst/>
          </a:prstGeom>
          <a:solidFill>
            <a:srgbClr val="FFFFFF"/>
          </a:solidFill>
          <a:ln w="18288">
            <a:solidFill>
              <a:srgbClr val="212529"/>
            </a:solidFill>
            <a:prstDash val="solid"/>
          </a:ln>
        </p:spPr>
        <p:txBody>
          <a:bodyPr/>
          <a:lstStyle/>
          <a:p>
            <a:endParaRPr lang="fr-FR"/>
          </a:p>
        </p:txBody>
      </p:sp>
      <p:sp>
        <p:nvSpPr>
          <p:cNvPr id="4" name="Text 1"/>
          <p:cNvSpPr/>
          <p:nvPr/>
        </p:nvSpPr>
        <p:spPr>
          <a:xfrm>
            <a:off x="904856" y="1929482"/>
            <a:ext cx="7334259" cy="817234"/>
          </a:xfrm>
          <a:prstGeom prst="rect">
            <a:avLst/>
          </a:prstGeom>
          <a:noFill/>
          <a:ln/>
        </p:spPr>
        <p:txBody>
          <a:bodyPr wrap="square" lIns="0" tIns="0" rIns="0" bIns="0" rtlCol="0" anchor="t">
            <a:spAutoFit/>
          </a:bodyPr>
          <a:lstStyle/>
          <a:p>
            <a:pPr marL="0" indent="0" algn="ctr">
              <a:lnSpc>
                <a:spcPts val="3200"/>
              </a:lnSpc>
              <a:buNone/>
            </a:pPr>
            <a:r>
              <a:rPr lang="en-US" sz="2649" b="1" dirty="0">
                <a:solidFill>
                  <a:srgbClr val="212529"/>
                </a:solidFill>
                <a:latin typeface="JetBrains Mono" pitchFamily="34" charset="0"/>
                <a:ea typeface="JetBrains Mono" pitchFamily="34" charset="-122"/>
                <a:cs typeface="JetBrains Mono" pitchFamily="34" charset="-120"/>
              </a:rPr>
              <a:t>MAÎTRISER L'ÉCOSYSTÈME DATA MODERNE</a:t>
            </a:r>
            <a:endParaRPr lang="en-US" sz="2649" dirty="0"/>
          </a:p>
        </p:txBody>
      </p:sp>
      <p:sp>
        <p:nvSpPr>
          <p:cNvPr id="5" name="Text 2"/>
          <p:cNvSpPr/>
          <p:nvPr/>
        </p:nvSpPr>
        <p:spPr>
          <a:xfrm>
            <a:off x="1489444" y="2832441"/>
            <a:ext cx="6165056" cy="225028"/>
          </a:xfrm>
          <a:prstGeom prst="rect">
            <a:avLst/>
          </a:prstGeom>
          <a:noFill/>
          <a:ln/>
        </p:spPr>
        <p:txBody>
          <a:bodyPr wrap="none" lIns="0" tIns="0" rIns="0" bIns="0" rtlCol="0" anchor="t">
            <a:spAutoFit/>
          </a:bodyPr>
          <a:lstStyle/>
          <a:p>
            <a:pPr marL="0" indent="0" algn="ctr">
              <a:lnSpc>
                <a:spcPts val="1800"/>
              </a:lnSpc>
              <a:buNone/>
            </a:pPr>
            <a:r>
              <a:rPr lang="en-US" sz="1377" dirty="0">
                <a:solidFill>
                  <a:srgbClr val="0D6EFD"/>
                </a:solidFill>
                <a:latin typeface="Inter" pitchFamily="34" charset="0"/>
                <a:ea typeface="Inter" pitchFamily="34" charset="-122"/>
                <a:cs typeface="Inter" pitchFamily="34" charset="-120"/>
              </a:rPr>
              <a:t>Un guide simple pour comprendre les outils qui font parler les données.</a:t>
            </a:r>
            <a:endParaRPr lang="en-US" sz="1377" dirty="0"/>
          </a:p>
        </p:txBody>
      </p:sp>
      <p:pic>
        <p:nvPicPr>
          <p:cNvPr id="6" name="Image 1" descr="preencoded.png"/>
          <p:cNvPicPr>
            <a:picLocks noChangeAspect="1"/>
          </p:cNvPicPr>
          <p:nvPr/>
        </p:nvPicPr>
        <p:blipFill>
          <a:blip r:embed="rId4"/>
          <a:stretch>
            <a:fillRect/>
          </a:stretch>
        </p:blipFill>
        <p:spPr>
          <a:xfrm>
            <a:off x="2648517" y="3311072"/>
            <a:ext cx="160734" cy="128588"/>
          </a:xfrm>
          <a:prstGeom prst="rect">
            <a:avLst/>
          </a:prstGeom>
        </p:spPr>
      </p:pic>
      <p:sp>
        <p:nvSpPr>
          <p:cNvPr id="7" name="Text 3"/>
          <p:cNvSpPr/>
          <p:nvPr/>
        </p:nvSpPr>
        <p:spPr>
          <a:xfrm>
            <a:off x="2809252" y="3293213"/>
            <a:ext cx="3686175" cy="169664"/>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20C997"/>
                </a:solidFill>
                <a:latin typeface="JetBrains Mono" pitchFamily="34" charset="0"/>
                <a:ea typeface="JetBrains Mono" pitchFamily="34" charset="-122"/>
                <a:cs typeface="JetBrains Mono" pitchFamily="34" charset="-120"/>
              </a:rPr>
              <a:t>PRÉSENTÉ PAR : ECH-ECHKAF Hajar &amp; KANZARI Manal</a:t>
            </a:r>
            <a:endParaRPr lang="en-US" sz="94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57788"/>
          </a:xfrm>
          <a:prstGeom prst="rect">
            <a:avLst/>
          </a:prstGeom>
        </p:spPr>
      </p:pic>
      <p:sp>
        <p:nvSpPr>
          <p:cNvPr id="3" name="Shape 0"/>
          <p:cNvSpPr/>
          <p:nvPr/>
        </p:nvSpPr>
        <p:spPr>
          <a:xfrm>
            <a:off x="7144" y="7144"/>
            <a:ext cx="9144000" cy="571500"/>
          </a:xfrm>
          <a:prstGeom prst="rect">
            <a:avLst/>
          </a:prstGeom>
          <a:solidFill>
            <a:srgbClr val="FFFFFF"/>
          </a:solidFill>
          <a:ln/>
        </p:spPr>
        <p:txBody>
          <a:bodyPr/>
          <a:lstStyle/>
          <a:p>
            <a:endParaRPr lang="fr-FR"/>
          </a:p>
        </p:txBody>
      </p:sp>
      <p:sp>
        <p:nvSpPr>
          <p:cNvPr id="4" name="Shape 1"/>
          <p:cNvSpPr/>
          <p:nvPr/>
        </p:nvSpPr>
        <p:spPr>
          <a:xfrm>
            <a:off x="7144" y="564356"/>
            <a:ext cx="9144000" cy="14288"/>
          </a:xfrm>
          <a:prstGeom prst="rect">
            <a:avLst/>
          </a:prstGeom>
          <a:solidFill>
            <a:srgbClr val="212529"/>
          </a:solidFill>
          <a:ln/>
        </p:spPr>
        <p:txBody>
          <a:bodyPr/>
          <a:lstStyle/>
          <a:p>
            <a:endParaRPr lang="fr-FR"/>
          </a:p>
        </p:txBody>
      </p:sp>
      <p:sp>
        <p:nvSpPr>
          <p:cNvPr id="5" name="Text 2"/>
          <p:cNvSpPr/>
          <p:nvPr/>
        </p:nvSpPr>
        <p:spPr>
          <a:xfrm>
            <a:off x="292894" y="141982"/>
            <a:ext cx="3300413" cy="30182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212529"/>
                </a:solidFill>
                <a:latin typeface="JetBrains Mono" pitchFamily="34" charset="0"/>
                <a:ea typeface="JetBrains Mono" pitchFamily="34" charset="-122"/>
                <a:cs typeface="JetBrains Mono" pitchFamily="34" charset="-120"/>
              </a:rPr>
              <a:t>POURQUOI TANT D'OUTILS ?</a:t>
            </a:r>
            <a:endParaRPr lang="en-US" sz="1602" dirty="0"/>
          </a:p>
        </p:txBody>
      </p:sp>
      <p:sp>
        <p:nvSpPr>
          <p:cNvPr id="6" name="Shape 3"/>
          <p:cNvSpPr/>
          <p:nvPr/>
        </p:nvSpPr>
        <p:spPr>
          <a:xfrm>
            <a:off x="7144" y="578644"/>
            <a:ext cx="4572000" cy="3857625"/>
          </a:xfrm>
          <a:prstGeom prst="rect">
            <a:avLst/>
          </a:prstGeom>
          <a:solidFill>
            <a:srgbClr val="FFFFFF"/>
          </a:solidFill>
          <a:ln/>
        </p:spPr>
        <p:txBody>
          <a:bodyPr/>
          <a:lstStyle/>
          <a:p>
            <a:endParaRPr lang="fr-FR"/>
          </a:p>
        </p:txBody>
      </p:sp>
      <p:sp>
        <p:nvSpPr>
          <p:cNvPr id="7" name="Shape 4"/>
          <p:cNvSpPr/>
          <p:nvPr/>
        </p:nvSpPr>
        <p:spPr>
          <a:xfrm>
            <a:off x="4572000" y="578644"/>
            <a:ext cx="7144" cy="3857625"/>
          </a:xfrm>
          <a:prstGeom prst="rect">
            <a:avLst/>
          </a:prstGeom>
          <a:solidFill>
            <a:srgbClr val="DEE2E6"/>
          </a:solidFill>
          <a:ln/>
        </p:spPr>
        <p:txBody>
          <a:bodyPr/>
          <a:lstStyle/>
          <a:p>
            <a:endParaRPr lang="fr-FR"/>
          </a:p>
        </p:txBody>
      </p:sp>
      <p:pic>
        <p:nvPicPr>
          <p:cNvPr id="8" name="Image 1" descr="preencoded.png"/>
          <p:cNvPicPr>
            <a:picLocks noChangeAspect="1"/>
          </p:cNvPicPr>
          <p:nvPr/>
        </p:nvPicPr>
        <p:blipFill>
          <a:blip r:embed="rId4"/>
          <a:stretch>
            <a:fillRect/>
          </a:stretch>
        </p:blipFill>
        <p:spPr>
          <a:xfrm>
            <a:off x="292894" y="676870"/>
            <a:ext cx="285750" cy="285750"/>
          </a:xfrm>
          <a:prstGeom prst="rect">
            <a:avLst/>
          </a:prstGeom>
        </p:spPr>
      </p:pic>
      <p:sp>
        <p:nvSpPr>
          <p:cNvPr id="9" name="Text 5"/>
          <p:cNvSpPr/>
          <p:nvPr/>
        </p:nvSpPr>
        <p:spPr>
          <a:xfrm>
            <a:off x="292894" y="1168003"/>
            <a:ext cx="4000500" cy="217884"/>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0D6EFD"/>
                </a:solidFill>
                <a:latin typeface="Space Grotesk" pitchFamily="34" charset="0"/>
                <a:ea typeface="Space Grotesk" pitchFamily="34" charset="-122"/>
                <a:cs typeface="Space Grotesk" pitchFamily="34" charset="-120"/>
              </a:rPr>
              <a:t>L'image du puzzle</a:t>
            </a:r>
            <a:endParaRPr lang="en-US" sz="1193" dirty="0"/>
          </a:p>
        </p:txBody>
      </p:sp>
      <p:sp>
        <p:nvSpPr>
          <p:cNvPr id="10" name="Text 6"/>
          <p:cNvSpPr/>
          <p:nvPr/>
        </p:nvSpPr>
        <p:spPr>
          <a:xfrm>
            <a:off x="292894" y="1528763"/>
            <a:ext cx="4000500" cy="670312"/>
          </a:xfrm>
          <a:prstGeom prst="rect">
            <a:avLst/>
          </a:prstGeom>
          <a:noFill/>
          <a:ln/>
        </p:spPr>
        <p:txBody>
          <a:bodyPr wrap="square" lIns="0" tIns="0" rIns="0" bIns="0" rtlCol="0" anchor="t">
            <a:spAutoFit/>
          </a:bodyPr>
          <a:lstStyle/>
          <a:p>
            <a:pPr>
              <a:lnSpc>
                <a:spcPts val="1800"/>
              </a:lnSpc>
            </a:pPr>
            <a:r>
              <a:rPr lang="fr-FR" sz="1050" dirty="0">
                <a:solidFill>
                  <a:srgbClr val="495057"/>
                </a:solidFill>
                <a:latin typeface="Inter" pitchFamily="34" charset="0"/>
                <a:ea typeface="Inter" pitchFamily="34" charset="-122"/>
                <a:cs typeface="Inter" pitchFamily="34" charset="-120"/>
              </a:rPr>
              <a:t>Un projet data est comparable à un puzzle géant où chaque pièce a un rôle précis et indispensable. Sans les outils adéquats, les données restent fragmentées et l'image globale incomplète.</a:t>
            </a:r>
            <a:endParaRPr lang="en-US" sz="1050" dirty="0"/>
          </a:p>
        </p:txBody>
      </p:sp>
      <p:sp>
        <p:nvSpPr>
          <p:cNvPr id="11" name="Text 7"/>
          <p:cNvSpPr/>
          <p:nvPr/>
        </p:nvSpPr>
        <p:spPr>
          <a:xfrm>
            <a:off x="292894" y="2128838"/>
            <a:ext cx="4000500" cy="208647"/>
          </a:xfrm>
          <a:prstGeom prst="rect">
            <a:avLst/>
          </a:prstGeom>
          <a:noFill/>
          <a:ln/>
        </p:spPr>
        <p:txBody>
          <a:bodyPr wrap="square" lIns="0" tIns="0" rIns="0" bIns="0" rtlCol="0" anchor="t">
            <a:spAutoFit/>
          </a:bodyPr>
          <a:lstStyle/>
          <a:p>
            <a:pPr marL="0" indent="0" algn="l">
              <a:lnSpc>
                <a:spcPts val="1800"/>
              </a:lnSpc>
              <a:buNone/>
            </a:pPr>
            <a:endParaRPr lang="en-US" sz="1050" dirty="0"/>
          </a:p>
        </p:txBody>
      </p:sp>
      <p:sp>
        <p:nvSpPr>
          <p:cNvPr id="12" name="Shape 8"/>
          <p:cNvSpPr/>
          <p:nvPr/>
        </p:nvSpPr>
        <p:spPr>
          <a:xfrm>
            <a:off x="4579144" y="578644"/>
            <a:ext cx="4572000" cy="3857625"/>
          </a:xfrm>
          <a:prstGeom prst="rect">
            <a:avLst/>
          </a:prstGeom>
          <a:solidFill>
            <a:srgbClr val="000000">
              <a:alpha val="0"/>
            </a:srgbClr>
          </a:solidFill>
          <a:ln/>
        </p:spPr>
        <p:txBody>
          <a:bodyPr/>
          <a:lstStyle/>
          <a:p>
            <a:endParaRPr lang="fr-FR"/>
          </a:p>
        </p:txBody>
      </p:sp>
      <p:sp>
        <p:nvSpPr>
          <p:cNvPr id="13" name="Shape 9"/>
          <p:cNvSpPr/>
          <p:nvPr/>
        </p:nvSpPr>
        <p:spPr>
          <a:xfrm>
            <a:off x="9144000" y="578644"/>
            <a:ext cx="7144" cy="3857625"/>
          </a:xfrm>
          <a:prstGeom prst="rect">
            <a:avLst/>
          </a:prstGeom>
          <a:solidFill>
            <a:srgbClr val="DEE2E6"/>
          </a:solidFill>
          <a:ln/>
        </p:spPr>
        <p:txBody>
          <a:bodyPr/>
          <a:lstStyle/>
          <a:p>
            <a:endParaRPr lang="fr-FR"/>
          </a:p>
        </p:txBody>
      </p:sp>
      <p:pic>
        <p:nvPicPr>
          <p:cNvPr id="14" name="Image 2" descr="preencoded.png"/>
          <p:cNvPicPr>
            <a:picLocks noChangeAspect="1"/>
          </p:cNvPicPr>
          <p:nvPr/>
        </p:nvPicPr>
        <p:blipFill>
          <a:blip r:embed="rId5"/>
          <a:stretch>
            <a:fillRect/>
          </a:stretch>
        </p:blipFill>
        <p:spPr>
          <a:xfrm>
            <a:off x="4864894" y="676870"/>
            <a:ext cx="285750" cy="285750"/>
          </a:xfrm>
          <a:prstGeom prst="rect">
            <a:avLst/>
          </a:prstGeom>
        </p:spPr>
      </p:pic>
      <p:sp>
        <p:nvSpPr>
          <p:cNvPr id="15" name="Text 10"/>
          <p:cNvSpPr/>
          <p:nvPr/>
        </p:nvSpPr>
        <p:spPr>
          <a:xfrm>
            <a:off x="4864894" y="1168003"/>
            <a:ext cx="4000500" cy="217884"/>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0D6EFD"/>
                </a:solidFill>
                <a:latin typeface="Space Grotesk" pitchFamily="34" charset="0"/>
                <a:ea typeface="Space Grotesk" pitchFamily="34" charset="-122"/>
                <a:cs typeface="Space Grotesk" pitchFamily="34" charset="-120"/>
              </a:rPr>
              <a:t>Le cycle de vie</a:t>
            </a:r>
            <a:endParaRPr lang="en-US" sz="1193" dirty="0"/>
          </a:p>
        </p:txBody>
      </p:sp>
      <p:sp>
        <p:nvSpPr>
          <p:cNvPr id="16" name="Text 11"/>
          <p:cNvSpPr/>
          <p:nvPr/>
        </p:nvSpPr>
        <p:spPr>
          <a:xfrm>
            <a:off x="4864894" y="1528763"/>
            <a:ext cx="4000500" cy="6858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495057"/>
                </a:solidFill>
                <a:latin typeface="Inter" pitchFamily="34" charset="0"/>
                <a:ea typeface="Inter" pitchFamily="34" charset="-122"/>
                <a:cs typeface="Inter" pitchFamily="34" charset="-120"/>
              </a:rPr>
              <a:t>On commence par collecter la donnée brute (souvent "sale"), on la nettoie, on l'organise, et enfin, on la montre pour prendre des décisions.</a:t>
            </a:r>
            <a:endParaRPr lang="en-US" sz="1050" dirty="0"/>
          </a:p>
        </p:txBody>
      </p:sp>
      <p:sp>
        <p:nvSpPr>
          <p:cNvPr id="17" name="Text 12"/>
          <p:cNvSpPr/>
          <p:nvPr/>
        </p:nvSpPr>
        <p:spPr>
          <a:xfrm>
            <a:off x="4864894" y="2357438"/>
            <a:ext cx="4000500" cy="228600"/>
          </a:xfrm>
          <a:prstGeom prst="rect">
            <a:avLst/>
          </a:prstGeom>
          <a:noFill/>
          <a:ln/>
        </p:spPr>
        <p:txBody>
          <a:bodyPr wrap="none" lIns="0" tIns="0" rIns="0" bIns="0" rtlCol="0" anchor="t">
            <a:spAutoFit/>
          </a:bodyPr>
          <a:lstStyle/>
          <a:p>
            <a:pPr marL="0" indent="0" algn="l">
              <a:lnSpc>
                <a:spcPts val="1800"/>
              </a:lnSpc>
              <a:buNone/>
            </a:pPr>
            <a:r>
              <a:rPr lang="en-US" sz="1050" dirty="0" err="1">
                <a:solidFill>
                  <a:srgbClr val="495057"/>
                </a:solidFill>
                <a:latin typeface="Inter" pitchFamily="34" charset="0"/>
                <a:ea typeface="Inter" pitchFamily="34" charset="-122"/>
                <a:cs typeface="Inter" pitchFamily="34" charset="-120"/>
              </a:rPr>
              <a:t>Chaque</a:t>
            </a:r>
            <a:r>
              <a:rPr lang="en-US" sz="1050" dirty="0">
                <a:solidFill>
                  <a:srgbClr val="495057"/>
                </a:solidFill>
                <a:latin typeface="Inter" pitchFamily="34" charset="0"/>
                <a:ea typeface="Inter" pitchFamily="34" charset="-122"/>
                <a:cs typeface="Inter" pitchFamily="34" charset="-120"/>
              </a:rPr>
              <a:t> étape </a:t>
            </a:r>
            <a:r>
              <a:rPr lang="en-US" sz="1050" dirty="0" err="1">
                <a:solidFill>
                  <a:srgbClr val="495057"/>
                </a:solidFill>
                <a:latin typeface="Inter" pitchFamily="34" charset="0"/>
                <a:ea typeface="Inter" pitchFamily="34" charset="-122"/>
                <a:cs typeface="Inter" pitchFamily="34" charset="-120"/>
              </a:rPr>
              <a:t>nécessite</a:t>
            </a:r>
            <a:r>
              <a:rPr lang="en-US" sz="1050" dirty="0">
                <a:solidFill>
                  <a:srgbClr val="495057"/>
                </a:solidFill>
                <a:latin typeface="Inter" pitchFamily="34" charset="0"/>
                <a:ea typeface="Inter" pitchFamily="34" charset="-122"/>
                <a:cs typeface="Inter" pitchFamily="34" charset="-120"/>
              </a:rPr>
              <a:t> un expert et son </a:t>
            </a:r>
            <a:r>
              <a:rPr lang="en-US" sz="1050" dirty="0" err="1">
                <a:solidFill>
                  <a:srgbClr val="495057"/>
                </a:solidFill>
                <a:latin typeface="Inter" pitchFamily="34" charset="0"/>
                <a:ea typeface="Inter" pitchFamily="34" charset="-122"/>
                <a:cs typeface="Inter" pitchFamily="34" charset="-120"/>
              </a:rPr>
              <a:t>outil</a:t>
            </a:r>
            <a:r>
              <a:rPr lang="en-US" sz="1050" dirty="0">
                <a:solidFill>
                  <a:srgbClr val="495057"/>
                </a:solidFill>
                <a:latin typeface="Inter" pitchFamily="34" charset="0"/>
                <a:ea typeface="Inter" pitchFamily="34" charset="-122"/>
                <a:cs typeface="Inter" pitchFamily="34" charset="-120"/>
              </a:rPr>
              <a:t> </a:t>
            </a:r>
            <a:r>
              <a:rPr lang="en-US" sz="1050" dirty="0" err="1">
                <a:solidFill>
                  <a:srgbClr val="495057"/>
                </a:solidFill>
                <a:latin typeface="Inter" pitchFamily="34" charset="0"/>
                <a:ea typeface="Inter" pitchFamily="34" charset="-122"/>
                <a:cs typeface="Inter" pitchFamily="34" charset="-120"/>
              </a:rPr>
              <a:t>dédié</a:t>
            </a:r>
            <a:r>
              <a:rPr lang="en-US" sz="1050" dirty="0">
                <a:solidFill>
                  <a:srgbClr val="495057"/>
                </a:solidFill>
                <a:latin typeface="Inter" pitchFamily="34" charset="0"/>
                <a:ea typeface="Inter" pitchFamily="34" charset="-122"/>
                <a:cs typeface="Inter" pitchFamily="34" charset="-120"/>
              </a:rPr>
              <a:t>.</a:t>
            </a:r>
            <a:endParaRPr lang="en-US" sz="1050" dirty="0"/>
          </a:p>
        </p:txBody>
      </p:sp>
      <p:sp>
        <p:nvSpPr>
          <p:cNvPr id="18" name="Shape 13"/>
          <p:cNvSpPr/>
          <p:nvPr/>
        </p:nvSpPr>
        <p:spPr>
          <a:xfrm>
            <a:off x="7144" y="4436269"/>
            <a:ext cx="9144000" cy="714375"/>
          </a:xfrm>
          <a:prstGeom prst="rect">
            <a:avLst/>
          </a:prstGeom>
          <a:solidFill>
            <a:srgbClr val="0D6EFD"/>
          </a:solidFill>
          <a:ln/>
        </p:spPr>
        <p:txBody>
          <a:bodyPr/>
          <a:lstStyle/>
          <a:p>
            <a:endParaRPr lang="fr-FR"/>
          </a:p>
        </p:txBody>
      </p:sp>
      <p:pic>
        <p:nvPicPr>
          <p:cNvPr id="19" name="Image 3" descr="preencoded.png"/>
          <p:cNvPicPr>
            <a:picLocks noChangeAspect="1"/>
          </p:cNvPicPr>
          <p:nvPr/>
        </p:nvPicPr>
        <p:blipFill>
          <a:blip r:embed="rId6"/>
          <a:stretch>
            <a:fillRect/>
          </a:stretch>
        </p:blipFill>
        <p:spPr>
          <a:xfrm>
            <a:off x="292894" y="4736306"/>
            <a:ext cx="114300" cy="114300"/>
          </a:xfrm>
          <a:prstGeom prst="rect">
            <a:avLst/>
          </a:prstGeom>
        </p:spPr>
      </p:pic>
      <p:sp>
        <p:nvSpPr>
          <p:cNvPr id="20" name="Text 14"/>
          <p:cNvSpPr/>
          <p:nvPr/>
        </p:nvSpPr>
        <p:spPr>
          <a:xfrm>
            <a:off x="407194" y="4718447"/>
            <a:ext cx="5564981" cy="150019"/>
          </a:xfrm>
          <a:prstGeom prst="rect">
            <a:avLst/>
          </a:prstGeom>
          <a:noFill/>
          <a:ln/>
        </p:spPr>
        <p:txBody>
          <a:bodyPr wrap="none" lIns="0" tIns="0" rIns="0" bIns="0" rtlCol="0" anchor="t">
            <a:spAutoFit/>
          </a:bodyPr>
          <a:lstStyle/>
          <a:p>
            <a:pPr marL="0" indent="0" algn="l">
              <a:lnSpc>
                <a:spcPts val="1100"/>
              </a:lnSpc>
              <a:buNone/>
            </a:pPr>
            <a:r>
              <a:rPr lang="en-US" sz="834" dirty="0">
                <a:solidFill>
                  <a:srgbClr val="FFFFFF"/>
                </a:solidFill>
                <a:latin typeface="JetBrains Mono" pitchFamily="34" charset="0"/>
                <a:ea typeface="JetBrains Mono" pitchFamily="34" charset="-122"/>
                <a:cs typeface="JetBrains Mono" pitchFamily="34" charset="-120"/>
              </a:rPr>
              <a:t>OBJECTIF : Découvrir ensemble les 8 outils qui facilitent ce travail au quotidien.</a:t>
            </a:r>
            <a:endParaRPr lang="en-US" sz="83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7144" y="7144"/>
            <a:ext cx="9129713" cy="571500"/>
          </a:xfrm>
          <a:prstGeom prst="rect">
            <a:avLst/>
          </a:prstGeom>
          <a:solidFill>
            <a:srgbClr val="FFFFFF"/>
          </a:solidFill>
          <a:ln/>
        </p:spPr>
        <p:txBody>
          <a:bodyPr/>
          <a:lstStyle/>
          <a:p>
            <a:endParaRPr lang="fr-FR"/>
          </a:p>
        </p:txBody>
      </p:sp>
      <p:sp>
        <p:nvSpPr>
          <p:cNvPr id="4" name="Shape 1"/>
          <p:cNvSpPr/>
          <p:nvPr/>
        </p:nvSpPr>
        <p:spPr>
          <a:xfrm>
            <a:off x="7144" y="564356"/>
            <a:ext cx="9129713" cy="14288"/>
          </a:xfrm>
          <a:prstGeom prst="rect">
            <a:avLst/>
          </a:prstGeom>
          <a:solidFill>
            <a:srgbClr val="0D6EFD"/>
          </a:solidFill>
          <a:ln/>
        </p:spPr>
        <p:txBody>
          <a:bodyPr/>
          <a:lstStyle/>
          <a:p>
            <a:endParaRPr lang="fr-FR"/>
          </a:p>
        </p:txBody>
      </p:sp>
      <p:sp>
        <p:nvSpPr>
          <p:cNvPr id="5" name="Text 2"/>
          <p:cNvSpPr/>
          <p:nvPr/>
        </p:nvSpPr>
        <p:spPr>
          <a:xfrm>
            <a:off x="292894" y="141982"/>
            <a:ext cx="6463308" cy="30182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212529"/>
                </a:solidFill>
                <a:latin typeface="JetBrains Mono" pitchFamily="34" charset="0"/>
                <a:ea typeface="JetBrains Mono" pitchFamily="34" charset="-122"/>
                <a:cs typeface="JetBrains Mono" pitchFamily="34" charset="-120"/>
              </a:rPr>
              <a:t>TABLEAU : L'ART DE RENDRE LES DONNÉES PARLANTES</a:t>
            </a:r>
            <a:endParaRPr lang="en-US" sz="1602" dirty="0"/>
          </a:p>
        </p:txBody>
      </p:sp>
      <p:sp>
        <p:nvSpPr>
          <p:cNvPr id="6" name="Shape 3"/>
          <p:cNvSpPr/>
          <p:nvPr/>
        </p:nvSpPr>
        <p:spPr>
          <a:xfrm>
            <a:off x="7116" y="428625"/>
            <a:ext cx="9129713" cy="3986213"/>
          </a:xfrm>
          <a:prstGeom prst="rect">
            <a:avLst/>
          </a:prstGeom>
          <a:solidFill>
            <a:srgbClr val="FFFFFF"/>
          </a:solidFill>
          <a:ln/>
        </p:spPr>
        <p:txBody>
          <a:bodyPr/>
          <a:lstStyle/>
          <a:p>
            <a:endParaRPr lang="fr-FR" dirty="0"/>
          </a:p>
        </p:txBody>
      </p:sp>
      <p:pic>
        <p:nvPicPr>
          <p:cNvPr id="7" name="Image 1" descr="preencoded.png"/>
          <p:cNvPicPr>
            <a:picLocks noChangeAspect="1"/>
          </p:cNvPicPr>
          <p:nvPr/>
        </p:nvPicPr>
        <p:blipFill>
          <a:blip r:embed="rId4"/>
          <a:stretch>
            <a:fillRect/>
          </a:stretch>
        </p:blipFill>
        <p:spPr>
          <a:xfrm>
            <a:off x="292894" y="1003697"/>
            <a:ext cx="185738" cy="185738"/>
          </a:xfrm>
          <a:prstGeom prst="rect">
            <a:avLst/>
          </a:prstGeom>
        </p:spPr>
      </p:pic>
      <p:sp>
        <p:nvSpPr>
          <p:cNvPr id="8" name="Text 4"/>
          <p:cNvSpPr/>
          <p:nvPr/>
        </p:nvSpPr>
        <p:spPr>
          <a:xfrm>
            <a:off x="585788" y="978694"/>
            <a:ext cx="1055489" cy="235744"/>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0D6EFD"/>
                </a:solidFill>
                <a:latin typeface="Space Grotesk" pitchFamily="34" charset="0"/>
                <a:ea typeface="Space Grotesk" pitchFamily="34" charset="-122"/>
                <a:cs typeface="Space Grotesk" pitchFamily="34" charset="-120"/>
              </a:rPr>
              <a:t>C'est quoi ?</a:t>
            </a:r>
            <a:endParaRPr lang="en-US" sz="1295" dirty="0"/>
          </a:p>
        </p:txBody>
      </p:sp>
      <p:sp>
        <p:nvSpPr>
          <p:cNvPr id="9" name="Text 5"/>
          <p:cNvSpPr/>
          <p:nvPr/>
        </p:nvSpPr>
        <p:spPr>
          <a:xfrm>
            <a:off x="292894" y="1357313"/>
            <a:ext cx="3642643" cy="853054"/>
          </a:xfrm>
          <a:prstGeom prst="rect">
            <a:avLst/>
          </a:prstGeom>
          <a:noFill/>
          <a:ln/>
        </p:spPr>
        <p:txBody>
          <a:bodyPr wrap="square" lIns="0" tIns="0" rIns="0" bIns="0" rtlCol="0" anchor="t">
            <a:spAutoFit/>
          </a:bodyPr>
          <a:lstStyle/>
          <a:p>
            <a:pPr>
              <a:lnSpc>
                <a:spcPts val="1700"/>
              </a:lnSpc>
            </a:pPr>
            <a:r>
              <a:rPr lang="fr-FR" sz="1200" dirty="0">
                <a:solidFill>
                  <a:srgbClr val="495057"/>
                </a:solidFill>
                <a:latin typeface="Inter"/>
                <a:ea typeface="Inter" pitchFamily="34" charset="-122"/>
                <a:cs typeface="Inter" pitchFamily="34" charset="-120"/>
              </a:rPr>
              <a:t>Tableau transforme des colonnes de chiffres en tableaux de bord interactifs. Il permet d'explorer les données visuellement pour trouver des réponses sans écrire de code, rendant la donnée accessible à tous.</a:t>
            </a:r>
            <a:endParaRPr lang="en-US" sz="1200" dirty="0">
              <a:latin typeface="Inter"/>
            </a:endParaRPr>
          </a:p>
        </p:txBody>
      </p:sp>
      <p:pic>
        <p:nvPicPr>
          <p:cNvPr id="10" name="Image 2" descr="preencoded.png"/>
          <p:cNvPicPr>
            <a:picLocks noChangeAspect="1"/>
          </p:cNvPicPr>
          <p:nvPr/>
        </p:nvPicPr>
        <p:blipFill>
          <a:blip r:embed="rId5"/>
          <a:stretch>
            <a:fillRect/>
          </a:stretch>
        </p:blipFill>
        <p:spPr>
          <a:xfrm>
            <a:off x="310277" y="2552552"/>
            <a:ext cx="185738" cy="185738"/>
          </a:xfrm>
          <a:prstGeom prst="rect">
            <a:avLst/>
          </a:prstGeom>
        </p:spPr>
      </p:pic>
      <p:sp>
        <p:nvSpPr>
          <p:cNvPr id="11" name="Text 6"/>
          <p:cNvSpPr/>
          <p:nvPr/>
        </p:nvSpPr>
        <p:spPr>
          <a:xfrm>
            <a:off x="585788" y="2518173"/>
            <a:ext cx="1384102" cy="235744"/>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0D6EFD"/>
                </a:solidFill>
                <a:latin typeface="Space Grotesk" pitchFamily="34" charset="0"/>
                <a:ea typeface="Space Grotesk" pitchFamily="34" charset="-122"/>
                <a:cs typeface="Space Grotesk" pitchFamily="34" charset="-120"/>
              </a:rPr>
              <a:t>À quoi ça sert ?</a:t>
            </a:r>
            <a:endParaRPr lang="en-US" sz="1295" dirty="0"/>
          </a:p>
        </p:txBody>
      </p:sp>
      <p:sp>
        <p:nvSpPr>
          <p:cNvPr id="12" name="Text 7"/>
          <p:cNvSpPr/>
          <p:nvPr/>
        </p:nvSpPr>
        <p:spPr>
          <a:xfrm>
            <a:off x="292894" y="2850357"/>
            <a:ext cx="3642643" cy="1071062"/>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495057"/>
                </a:solidFill>
                <a:latin typeface="Inter"/>
                <a:ea typeface="Inter" pitchFamily="34" charset="-122"/>
                <a:cs typeface="Inter" pitchFamily="34" charset="-120"/>
              </a:rPr>
              <a:t>À explorer vos données visuellement pour trouver des réponses sans écrire de code.</a:t>
            </a:r>
          </a:p>
          <a:p>
            <a:pPr>
              <a:lnSpc>
                <a:spcPts val="1700"/>
              </a:lnSpc>
            </a:pPr>
            <a:r>
              <a:rPr lang="fr-FR" sz="1050" dirty="0">
                <a:latin typeface="Inter"/>
              </a:rPr>
              <a:t>Sert à </a:t>
            </a:r>
            <a:r>
              <a:rPr lang="fr-FR" sz="1050" b="1" dirty="0">
                <a:latin typeface="Inter"/>
              </a:rPr>
              <a:t>créer des tableaux de bord (</a:t>
            </a:r>
            <a:r>
              <a:rPr lang="fr-FR" sz="1050" b="1" dirty="0" err="1">
                <a:latin typeface="Inter"/>
              </a:rPr>
              <a:t>dashboards</a:t>
            </a:r>
            <a:r>
              <a:rPr lang="fr-FR" sz="1050" b="1" dirty="0">
                <a:latin typeface="Inter"/>
              </a:rPr>
              <a:t>) interactifs</a:t>
            </a:r>
            <a:r>
              <a:rPr lang="fr-FR" sz="1050" dirty="0">
                <a:latin typeface="Inter"/>
              </a:rPr>
              <a:t> pour analyser et visualiser les données facilement.</a:t>
            </a:r>
            <a:endParaRPr lang="en-US" sz="1050" dirty="0">
              <a:solidFill>
                <a:srgbClr val="495057"/>
              </a:solidFill>
              <a:latin typeface="Inter"/>
              <a:ea typeface="Inter" pitchFamily="34" charset="-122"/>
              <a:cs typeface="Inter" pitchFamily="34" charset="-120"/>
            </a:endParaRPr>
          </a:p>
          <a:p>
            <a:pPr marL="0" indent="0" algn="l">
              <a:lnSpc>
                <a:spcPts val="1700"/>
              </a:lnSpc>
              <a:buNone/>
            </a:pPr>
            <a:endParaRPr lang="en-US" sz="1050" dirty="0"/>
          </a:p>
        </p:txBody>
      </p:sp>
      <p:sp>
        <p:nvSpPr>
          <p:cNvPr id="13" name="Text 8"/>
          <p:cNvSpPr/>
          <p:nvPr/>
        </p:nvSpPr>
        <p:spPr>
          <a:xfrm>
            <a:off x="221456" y="3503116"/>
            <a:ext cx="128818" cy="132344"/>
          </a:xfrm>
          <a:prstGeom prst="rect">
            <a:avLst/>
          </a:prstGeom>
          <a:noFill/>
          <a:ln/>
        </p:spPr>
        <p:txBody>
          <a:bodyPr wrap="none" lIns="127508" tIns="0" rIns="0" bIns="0" rtlCol="0" anchor="t">
            <a:spAutoFit/>
          </a:bodyPr>
          <a:lstStyle/>
          <a:p>
            <a:pPr marL="0" indent="0" algn="l">
              <a:lnSpc>
                <a:spcPts val="1100"/>
              </a:lnSpc>
              <a:buNone/>
            </a:pPr>
            <a:endParaRPr lang="en-US" sz="784" dirty="0"/>
          </a:p>
        </p:txBody>
      </p:sp>
      <p:sp>
        <p:nvSpPr>
          <p:cNvPr id="14" name="Shape 9"/>
          <p:cNvSpPr/>
          <p:nvPr/>
        </p:nvSpPr>
        <p:spPr>
          <a:xfrm>
            <a:off x="3871243" y="578644"/>
            <a:ext cx="5265586" cy="3986213"/>
          </a:xfrm>
          <a:prstGeom prst="rect">
            <a:avLst/>
          </a:prstGeom>
          <a:solidFill>
            <a:srgbClr val="FDFDFD"/>
          </a:solidFill>
          <a:ln/>
        </p:spPr>
        <p:txBody>
          <a:bodyPr/>
          <a:lstStyle/>
          <a:p>
            <a:endParaRPr lang="fr-FR"/>
          </a:p>
        </p:txBody>
      </p:sp>
      <p:pic>
        <p:nvPicPr>
          <p:cNvPr id="15" name="Image 3" descr="preencoded.png"/>
          <p:cNvPicPr>
            <a:picLocks noChangeAspect="1"/>
          </p:cNvPicPr>
          <p:nvPr/>
        </p:nvPicPr>
        <p:blipFill>
          <a:blip r:embed="rId6"/>
          <a:stretch>
            <a:fillRect/>
          </a:stretch>
        </p:blipFill>
        <p:spPr>
          <a:xfrm>
            <a:off x="4003815" y="806768"/>
            <a:ext cx="4793351" cy="3200876"/>
          </a:xfrm>
          <a:prstGeom prst="rect">
            <a:avLst/>
          </a:prstGeom>
        </p:spPr>
      </p:pic>
      <p:sp>
        <p:nvSpPr>
          <p:cNvPr id="16" name="Shape 10"/>
          <p:cNvSpPr/>
          <p:nvPr/>
        </p:nvSpPr>
        <p:spPr>
          <a:xfrm>
            <a:off x="7144" y="4564856"/>
            <a:ext cx="9129713" cy="571500"/>
          </a:xfrm>
          <a:prstGeom prst="rect">
            <a:avLst/>
          </a:prstGeom>
          <a:solidFill>
            <a:srgbClr val="212529"/>
          </a:solidFill>
          <a:ln/>
        </p:spPr>
        <p:txBody>
          <a:bodyPr/>
          <a:lstStyle/>
          <a:p>
            <a:endParaRPr lang="fr-FR"/>
          </a:p>
        </p:txBody>
      </p:sp>
      <p:pic>
        <p:nvPicPr>
          <p:cNvPr id="17" name="Image 4" descr="preencoded.png"/>
          <p:cNvPicPr>
            <a:picLocks noChangeAspect="1"/>
          </p:cNvPicPr>
          <p:nvPr/>
        </p:nvPicPr>
        <p:blipFill>
          <a:blip r:embed="rId7"/>
          <a:stretch>
            <a:fillRect/>
          </a:stretch>
        </p:blipFill>
        <p:spPr>
          <a:xfrm>
            <a:off x="221456" y="4786313"/>
            <a:ext cx="128588" cy="128588"/>
          </a:xfrm>
          <a:prstGeom prst="rect">
            <a:avLst/>
          </a:prstGeom>
        </p:spPr>
      </p:pic>
      <p:sp>
        <p:nvSpPr>
          <p:cNvPr id="18" name="Text 11"/>
          <p:cNvSpPr/>
          <p:nvPr/>
        </p:nvSpPr>
        <p:spPr>
          <a:xfrm>
            <a:off x="350044" y="4765774"/>
            <a:ext cx="3609380" cy="169664"/>
          </a:xfrm>
          <a:prstGeom prst="rect">
            <a:avLst/>
          </a:prstGeom>
          <a:noFill/>
          <a:ln/>
        </p:spPr>
        <p:txBody>
          <a:bodyPr wrap="none" lIns="0" tIns="0" rIns="0" bIns="0" rtlCol="0" anchor="t">
            <a:spAutoFit/>
          </a:bodyPr>
          <a:lstStyle/>
          <a:p>
            <a:pPr marL="0" indent="0" algn="l">
              <a:lnSpc>
                <a:spcPts val="1200"/>
              </a:lnSpc>
              <a:buNone/>
            </a:pPr>
            <a:r>
              <a:rPr lang="en-US" sz="942" dirty="0">
                <a:solidFill>
                  <a:srgbClr val="20C997"/>
                </a:solidFill>
                <a:latin typeface="JetBrains Mono" pitchFamily="34" charset="0"/>
                <a:ea typeface="JetBrains Mono" pitchFamily="34" charset="-122"/>
                <a:cs typeface="JetBrains Mono" pitchFamily="34" charset="-120"/>
              </a:rPr>
              <a:t>Outil de Business Intelligence (BI) Interactive</a:t>
            </a:r>
            <a:endParaRPr lang="en-US" sz="94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7144" y="7144"/>
            <a:ext cx="9129713" cy="571500"/>
          </a:xfrm>
          <a:prstGeom prst="rect">
            <a:avLst/>
          </a:prstGeom>
          <a:solidFill>
            <a:srgbClr val="FFFFFF"/>
          </a:solidFill>
          <a:ln/>
        </p:spPr>
        <p:txBody>
          <a:bodyPr/>
          <a:lstStyle/>
          <a:p>
            <a:endParaRPr lang="fr-FR"/>
          </a:p>
        </p:txBody>
      </p:sp>
      <p:sp>
        <p:nvSpPr>
          <p:cNvPr id="4" name="Shape 1"/>
          <p:cNvSpPr/>
          <p:nvPr/>
        </p:nvSpPr>
        <p:spPr>
          <a:xfrm>
            <a:off x="7144" y="564356"/>
            <a:ext cx="9129713" cy="14288"/>
          </a:xfrm>
          <a:prstGeom prst="rect">
            <a:avLst/>
          </a:prstGeom>
          <a:solidFill>
            <a:srgbClr val="20C997"/>
          </a:solidFill>
          <a:ln/>
        </p:spPr>
        <p:txBody>
          <a:bodyPr/>
          <a:lstStyle/>
          <a:p>
            <a:endParaRPr lang="fr-FR"/>
          </a:p>
        </p:txBody>
      </p:sp>
      <p:sp>
        <p:nvSpPr>
          <p:cNvPr id="5" name="Text 2"/>
          <p:cNvSpPr/>
          <p:nvPr/>
        </p:nvSpPr>
        <p:spPr>
          <a:xfrm>
            <a:off x="292894" y="141982"/>
            <a:ext cx="4263033" cy="30182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212529"/>
                </a:solidFill>
                <a:latin typeface="JetBrains Mono" pitchFamily="34" charset="0"/>
                <a:ea typeface="JetBrains Mono" pitchFamily="34" charset="-122"/>
                <a:cs typeface="JetBrains Mono" pitchFamily="34" charset="-120"/>
              </a:rPr>
              <a:t>QLIK : LE DÉTECTIVE DES DONNÉES</a:t>
            </a:r>
            <a:endParaRPr lang="en-US" sz="1602" dirty="0"/>
          </a:p>
        </p:txBody>
      </p:sp>
      <p:sp>
        <p:nvSpPr>
          <p:cNvPr id="6" name="Shape 3"/>
          <p:cNvSpPr/>
          <p:nvPr/>
        </p:nvSpPr>
        <p:spPr>
          <a:xfrm>
            <a:off x="23913" y="585788"/>
            <a:ext cx="9052719" cy="3923722"/>
          </a:xfrm>
          <a:prstGeom prst="rect">
            <a:avLst/>
          </a:prstGeom>
          <a:solidFill>
            <a:srgbClr val="FFFFFF"/>
          </a:solidFill>
          <a:ln/>
        </p:spPr>
        <p:txBody>
          <a:bodyPr/>
          <a:lstStyle/>
          <a:p>
            <a:endParaRPr lang="fr-FR" dirty="0"/>
          </a:p>
        </p:txBody>
      </p:sp>
      <p:sp>
        <p:nvSpPr>
          <p:cNvPr id="7" name="Shape 4"/>
          <p:cNvSpPr/>
          <p:nvPr/>
        </p:nvSpPr>
        <p:spPr>
          <a:xfrm>
            <a:off x="7144" y="760152"/>
            <a:ext cx="4979836" cy="3986213"/>
          </a:xfrm>
          <a:prstGeom prst="rect">
            <a:avLst/>
          </a:prstGeom>
          <a:solidFill>
            <a:srgbClr val="FDFDFD"/>
          </a:solidFill>
          <a:ln/>
        </p:spPr>
        <p:txBody>
          <a:bodyPr/>
          <a:lstStyle/>
          <a:p>
            <a:endParaRPr lang="fr-FR"/>
          </a:p>
        </p:txBody>
      </p:sp>
      <p:sp>
        <p:nvSpPr>
          <p:cNvPr id="8" name="Shape 5"/>
          <p:cNvSpPr/>
          <p:nvPr/>
        </p:nvSpPr>
        <p:spPr>
          <a:xfrm>
            <a:off x="4979836" y="578644"/>
            <a:ext cx="7144" cy="3986213"/>
          </a:xfrm>
          <a:prstGeom prst="rect">
            <a:avLst/>
          </a:prstGeom>
          <a:solidFill>
            <a:srgbClr val="DEE2E6"/>
          </a:solidFill>
          <a:ln/>
        </p:spPr>
        <p:txBody>
          <a:bodyPr/>
          <a:lstStyle/>
          <a:p>
            <a:endParaRPr lang="fr-FR"/>
          </a:p>
        </p:txBody>
      </p:sp>
      <p:pic>
        <p:nvPicPr>
          <p:cNvPr id="9" name="Image 1" descr="preencoded.png"/>
          <p:cNvPicPr>
            <a:picLocks noChangeAspect="1"/>
          </p:cNvPicPr>
          <p:nvPr/>
        </p:nvPicPr>
        <p:blipFill>
          <a:blip r:embed="rId4"/>
          <a:stretch>
            <a:fillRect/>
          </a:stretch>
        </p:blipFill>
        <p:spPr>
          <a:xfrm>
            <a:off x="216571" y="1135856"/>
            <a:ext cx="4540282" cy="3031883"/>
          </a:xfrm>
          <a:prstGeom prst="rect">
            <a:avLst/>
          </a:prstGeom>
        </p:spPr>
      </p:pic>
      <p:pic>
        <p:nvPicPr>
          <p:cNvPr id="10" name="Image 2" descr="preencoded.png"/>
          <p:cNvPicPr>
            <a:picLocks noChangeAspect="1"/>
          </p:cNvPicPr>
          <p:nvPr/>
        </p:nvPicPr>
        <p:blipFill>
          <a:blip r:embed="rId5"/>
          <a:stretch>
            <a:fillRect/>
          </a:stretch>
        </p:blipFill>
        <p:spPr>
          <a:xfrm>
            <a:off x="5272729" y="1003697"/>
            <a:ext cx="185738" cy="185738"/>
          </a:xfrm>
          <a:prstGeom prst="rect">
            <a:avLst/>
          </a:prstGeom>
        </p:spPr>
      </p:pic>
      <p:sp>
        <p:nvSpPr>
          <p:cNvPr id="11" name="Text 6"/>
          <p:cNvSpPr/>
          <p:nvPr/>
        </p:nvSpPr>
        <p:spPr>
          <a:xfrm>
            <a:off x="5565623" y="978694"/>
            <a:ext cx="1055489" cy="235744"/>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20C997"/>
                </a:solidFill>
                <a:latin typeface="Space Grotesk" pitchFamily="34" charset="0"/>
                <a:ea typeface="Space Grotesk" pitchFamily="34" charset="-122"/>
                <a:cs typeface="Space Grotesk" pitchFamily="34" charset="-120"/>
              </a:rPr>
              <a:t>C'est quoi ?</a:t>
            </a:r>
            <a:endParaRPr lang="en-US" sz="1295" dirty="0"/>
          </a:p>
        </p:txBody>
      </p:sp>
      <p:sp>
        <p:nvSpPr>
          <p:cNvPr id="12" name="Text 7"/>
          <p:cNvSpPr/>
          <p:nvPr/>
        </p:nvSpPr>
        <p:spPr>
          <a:xfrm>
            <a:off x="5272729" y="1357313"/>
            <a:ext cx="3649787" cy="857029"/>
          </a:xfrm>
          <a:prstGeom prst="rect">
            <a:avLst/>
          </a:prstGeom>
          <a:noFill/>
          <a:ln/>
        </p:spPr>
        <p:txBody>
          <a:bodyPr wrap="square" lIns="0" tIns="0" rIns="0" bIns="0" rtlCol="0" anchor="t">
            <a:spAutoFit/>
          </a:bodyPr>
          <a:lstStyle/>
          <a:p>
            <a:pPr>
              <a:lnSpc>
                <a:spcPts val="1700"/>
              </a:lnSpc>
            </a:pPr>
            <a:r>
              <a:rPr lang="fr-FR" sz="1200" dirty="0">
                <a:solidFill>
                  <a:srgbClr val="495057"/>
                </a:solidFill>
                <a:latin typeface="Inter"/>
                <a:ea typeface="Inter" pitchFamily="34" charset="-122"/>
                <a:cs typeface="Inter" pitchFamily="34" charset="-120"/>
              </a:rPr>
              <a:t>Qlik crée des liens entre toutes vos sources de données grâce à son moteur associatif. Il permet de naviguer librement pour révéler les relations cachées et raconter les secrets des données.</a:t>
            </a:r>
            <a:endParaRPr lang="en-US" sz="1200" dirty="0">
              <a:latin typeface="Inter"/>
            </a:endParaRPr>
          </a:p>
        </p:txBody>
      </p:sp>
      <p:pic>
        <p:nvPicPr>
          <p:cNvPr id="13" name="Image 3" descr="preencoded.png"/>
          <p:cNvPicPr>
            <a:picLocks noChangeAspect="1"/>
          </p:cNvPicPr>
          <p:nvPr/>
        </p:nvPicPr>
        <p:blipFill>
          <a:blip r:embed="rId6"/>
          <a:stretch>
            <a:fillRect/>
          </a:stretch>
        </p:blipFill>
        <p:spPr>
          <a:xfrm>
            <a:off x="5281824" y="2369211"/>
            <a:ext cx="232172" cy="185738"/>
          </a:xfrm>
          <a:prstGeom prst="rect">
            <a:avLst/>
          </a:prstGeom>
        </p:spPr>
      </p:pic>
      <p:sp>
        <p:nvSpPr>
          <p:cNvPr id="14" name="Text 8"/>
          <p:cNvSpPr/>
          <p:nvPr/>
        </p:nvSpPr>
        <p:spPr>
          <a:xfrm>
            <a:off x="5573957" y="2341898"/>
            <a:ext cx="1384102" cy="235744"/>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20C997"/>
                </a:solidFill>
                <a:latin typeface="Space Grotesk" pitchFamily="34" charset="0"/>
                <a:ea typeface="Space Grotesk" pitchFamily="34" charset="-122"/>
                <a:cs typeface="Space Grotesk" pitchFamily="34" charset="-120"/>
              </a:rPr>
              <a:t>À quoi ça sert ?</a:t>
            </a:r>
            <a:endParaRPr lang="en-US" sz="1295" dirty="0"/>
          </a:p>
        </p:txBody>
      </p:sp>
      <p:sp>
        <p:nvSpPr>
          <p:cNvPr id="15" name="Text 9"/>
          <p:cNvSpPr/>
          <p:nvPr/>
        </p:nvSpPr>
        <p:spPr>
          <a:xfrm>
            <a:off x="5319499" y="2811065"/>
            <a:ext cx="3649787" cy="848437"/>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495057"/>
                </a:solidFill>
                <a:latin typeface="Inter"/>
                <a:ea typeface="Inter"/>
                <a:cs typeface="Inter" pitchFamily="34" charset="-120"/>
              </a:rPr>
              <a:t>À naviguer librement dans les données pour voir les relations </a:t>
            </a:r>
            <a:r>
              <a:rPr lang="en-US" sz="1050" dirty="0" err="1">
                <a:solidFill>
                  <a:srgbClr val="495057"/>
                </a:solidFill>
                <a:latin typeface="Inter"/>
                <a:ea typeface="Inter"/>
                <a:cs typeface="Inter" pitchFamily="34" charset="-120"/>
              </a:rPr>
              <a:t>cachées</a:t>
            </a:r>
            <a:r>
              <a:rPr lang="en-US" sz="1050" dirty="0">
                <a:solidFill>
                  <a:srgbClr val="495057"/>
                </a:solidFill>
                <a:latin typeface="Inter"/>
                <a:ea typeface="Inter"/>
                <a:cs typeface="Inter" pitchFamily="34" charset="-120"/>
              </a:rPr>
              <a:t> </a:t>
            </a:r>
            <a:r>
              <a:rPr lang="fr-FR" sz="1050" dirty="0">
                <a:latin typeface="Inter"/>
                <a:ea typeface="Inter"/>
              </a:rPr>
              <a:t>Sert à </a:t>
            </a:r>
            <a:r>
              <a:rPr lang="fr-FR" sz="1050" b="1" dirty="0">
                <a:latin typeface="Inter"/>
                <a:ea typeface="Inter"/>
              </a:rPr>
              <a:t>explorer les données et comprendre les relations entre elles</a:t>
            </a:r>
            <a:r>
              <a:rPr lang="fr-FR" sz="1050" dirty="0">
                <a:latin typeface="Inter"/>
                <a:ea typeface="Inter"/>
              </a:rPr>
              <a:t> grâce à une analyse interactive.</a:t>
            </a:r>
            <a:endParaRPr lang="en-US" sz="1050" dirty="0">
              <a:latin typeface="Inter"/>
              <a:ea typeface="Inter"/>
            </a:endParaRPr>
          </a:p>
        </p:txBody>
      </p:sp>
      <p:sp>
        <p:nvSpPr>
          <p:cNvPr id="16" name="Text 10"/>
          <p:cNvSpPr/>
          <p:nvPr/>
        </p:nvSpPr>
        <p:spPr>
          <a:xfrm>
            <a:off x="5272729" y="3596878"/>
            <a:ext cx="3649787" cy="132344"/>
          </a:xfrm>
          <a:prstGeom prst="rect">
            <a:avLst/>
          </a:prstGeom>
          <a:noFill/>
          <a:ln/>
        </p:spPr>
        <p:txBody>
          <a:bodyPr wrap="square" lIns="127508" tIns="0" rIns="0" bIns="0" rtlCol="0" anchor="t">
            <a:spAutoFit/>
          </a:bodyPr>
          <a:lstStyle/>
          <a:p>
            <a:pPr marL="0" indent="0" algn="l">
              <a:lnSpc>
                <a:spcPts val="1100"/>
              </a:lnSpc>
              <a:buNone/>
            </a:pPr>
            <a:endParaRPr lang="en-US" sz="784" dirty="0"/>
          </a:p>
        </p:txBody>
      </p:sp>
      <p:sp>
        <p:nvSpPr>
          <p:cNvPr id="17" name="Shape 11"/>
          <p:cNvSpPr/>
          <p:nvPr/>
        </p:nvSpPr>
        <p:spPr>
          <a:xfrm>
            <a:off x="7144" y="4564856"/>
            <a:ext cx="9129713" cy="571500"/>
          </a:xfrm>
          <a:prstGeom prst="rect">
            <a:avLst/>
          </a:prstGeom>
          <a:solidFill>
            <a:srgbClr val="212529"/>
          </a:solidFill>
          <a:ln/>
        </p:spPr>
        <p:txBody>
          <a:bodyPr/>
          <a:lstStyle/>
          <a:p>
            <a:endParaRPr lang="fr-FR"/>
          </a:p>
        </p:txBody>
      </p:sp>
      <p:pic>
        <p:nvPicPr>
          <p:cNvPr id="18" name="Image 4" descr="preencoded.png"/>
          <p:cNvPicPr>
            <a:picLocks noChangeAspect="1"/>
          </p:cNvPicPr>
          <p:nvPr/>
        </p:nvPicPr>
        <p:blipFill>
          <a:blip r:embed="rId7"/>
          <a:stretch>
            <a:fillRect/>
          </a:stretch>
        </p:blipFill>
        <p:spPr>
          <a:xfrm>
            <a:off x="221456" y="4786313"/>
            <a:ext cx="128588" cy="128588"/>
          </a:xfrm>
          <a:prstGeom prst="rect">
            <a:avLst/>
          </a:prstGeom>
        </p:spPr>
      </p:pic>
      <p:sp>
        <p:nvSpPr>
          <p:cNvPr id="19" name="Text 12"/>
          <p:cNvSpPr/>
          <p:nvPr/>
        </p:nvSpPr>
        <p:spPr>
          <a:xfrm>
            <a:off x="350044" y="4765774"/>
            <a:ext cx="3378994" cy="169664"/>
          </a:xfrm>
          <a:prstGeom prst="rect">
            <a:avLst/>
          </a:prstGeom>
          <a:noFill/>
          <a:ln/>
        </p:spPr>
        <p:txBody>
          <a:bodyPr wrap="none" lIns="0" tIns="0" rIns="0" bIns="0" rtlCol="0" anchor="t">
            <a:spAutoFit/>
          </a:bodyPr>
          <a:lstStyle/>
          <a:p>
            <a:pPr marL="0" indent="0" algn="l">
              <a:lnSpc>
                <a:spcPts val="1200"/>
              </a:lnSpc>
              <a:buNone/>
            </a:pPr>
            <a:r>
              <a:rPr lang="en-US" sz="942" dirty="0">
                <a:solidFill>
                  <a:srgbClr val="0D6EFD"/>
                </a:solidFill>
                <a:latin typeface="JetBrains Mono" pitchFamily="34" charset="0"/>
                <a:ea typeface="JetBrains Mono" pitchFamily="34" charset="-122"/>
                <a:cs typeface="JetBrains Mono" pitchFamily="34" charset="-120"/>
              </a:rPr>
              <a:t>Analyse associative et découverte de données</a:t>
            </a:r>
            <a:endParaRPr lang="en-US" sz="942"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7144" y="7144"/>
            <a:ext cx="9129713" cy="571500"/>
          </a:xfrm>
          <a:prstGeom prst="rect">
            <a:avLst/>
          </a:prstGeom>
          <a:solidFill>
            <a:srgbClr val="FFFFFF"/>
          </a:solidFill>
          <a:ln/>
        </p:spPr>
        <p:txBody>
          <a:bodyPr/>
          <a:lstStyle/>
          <a:p>
            <a:endParaRPr lang="fr-FR"/>
          </a:p>
        </p:txBody>
      </p:sp>
      <p:sp>
        <p:nvSpPr>
          <p:cNvPr id="4" name="Shape 1"/>
          <p:cNvSpPr/>
          <p:nvPr/>
        </p:nvSpPr>
        <p:spPr>
          <a:xfrm>
            <a:off x="7144" y="564356"/>
            <a:ext cx="9129713" cy="14288"/>
          </a:xfrm>
          <a:prstGeom prst="rect">
            <a:avLst/>
          </a:prstGeom>
          <a:solidFill>
            <a:srgbClr val="0D6EFD"/>
          </a:solidFill>
          <a:ln/>
        </p:spPr>
        <p:txBody>
          <a:bodyPr/>
          <a:lstStyle/>
          <a:p>
            <a:endParaRPr lang="fr-FR"/>
          </a:p>
        </p:txBody>
      </p:sp>
      <p:sp>
        <p:nvSpPr>
          <p:cNvPr id="5" name="Text 2"/>
          <p:cNvSpPr/>
          <p:nvPr/>
        </p:nvSpPr>
        <p:spPr>
          <a:xfrm>
            <a:off x="292894" y="141982"/>
            <a:ext cx="5088136" cy="30182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212529"/>
                </a:solidFill>
                <a:latin typeface="JetBrains Mono" pitchFamily="34" charset="0"/>
                <a:ea typeface="JetBrains Mono" pitchFamily="34" charset="-122"/>
                <a:cs typeface="JetBrains Mono" pitchFamily="34" charset="-120"/>
              </a:rPr>
              <a:t>D3.JS : LA LIBERTÉ TOTALE DE CRÉATION</a:t>
            </a:r>
            <a:endParaRPr lang="en-US" sz="1602" dirty="0"/>
          </a:p>
        </p:txBody>
      </p:sp>
      <p:sp>
        <p:nvSpPr>
          <p:cNvPr id="6" name="Shape 3"/>
          <p:cNvSpPr/>
          <p:nvPr/>
        </p:nvSpPr>
        <p:spPr>
          <a:xfrm>
            <a:off x="21431" y="558106"/>
            <a:ext cx="9129713" cy="3986213"/>
          </a:xfrm>
          <a:prstGeom prst="rect">
            <a:avLst/>
          </a:prstGeom>
          <a:solidFill>
            <a:srgbClr val="FFFFFF"/>
          </a:solidFill>
          <a:ln/>
        </p:spPr>
        <p:txBody>
          <a:bodyPr/>
          <a:lstStyle/>
          <a:p>
            <a:endParaRPr lang="fr-FR" dirty="0"/>
          </a:p>
        </p:txBody>
      </p:sp>
      <p:pic>
        <p:nvPicPr>
          <p:cNvPr id="7" name="Image 1" descr="preencoded.png"/>
          <p:cNvPicPr>
            <a:picLocks noChangeAspect="1"/>
          </p:cNvPicPr>
          <p:nvPr/>
        </p:nvPicPr>
        <p:blipFill>
          <a:blip r:embed="rId4"/>
          <a:stretch>
            <a:fillRect/>
          </a:stretch>
        </p:blipFill>
        <p:spPr>
          <a:xfrm>
            <a:off x="292894" y="1003697"/>
            <a:ext cx="232172" cy="185738"/>
          </a:xfrm>
          <a:prstGeom prst="rect">
            <a:avLst/>
          </a:prstGeom>
        </p:spPr>
      </p:pic>
      <p:sp>
        <p:nvSpPr>
          <p:cNvPr id="8" name="Text 4"/>
          <p:cNvSpPr/>
          <p:nvPr/>
        </p:nvSpPr>
        <p:spPr>
          <a:xfrm>
            <a:off x="632222" y="978694"/>
            <a:ext cx="1055489" cy="235744"/>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0D6EFD"/>
                </a:solidFill>
                <a:latin typeface="Space Grotesk" pitchFamily="34" charset="0"/>
                <a:ea typeface="Space Grotesk" pitchFamily="34" charset="-122"/>
                <a:cs typeface="Space Grotesk" pitchFamily="34" charset="-120"/>
              </a:rPr>
              <a:t>C'est quoi ?</a:t>
            </a:r>
            <a:endParaRPr lang="en-US" sz="1295" dirty="0"/>
          </a:p>
        </p:txBody>
      </p:sp>
      <p:sp>
        <p:nvSpPr>
          <p:cNvPr id="9" name="Text 5"/>
          <p:cNvSpPr/>
          <p:nvPr/>
        </p:nvSpPr>
        <p:spPr>
          <a:xfrm>
            <a:off x="292894" y="1357313"/>
            <a:ext cx="3642643" cy="858184"/>
          </a:xfrm>
          <a:prstGeom prst="rect">
            <a:avLst/>
          </a:prstGeom>
          <a:noFill/>
          <a:ln/>
        </p:spPr>
        <p:txBody>
          <a:bodyPr wrap="square" lIns="0" tIns="0" rIns="0" bIns="0" rtlCol="0" anchor="t">
            <a:spAutoFit/>
          </a:bodyPr>
          <a:lstStyle/>
          <a:p>
            <a:pPr>
              <a:lnSpc>
                <a:spcPts val="1700"/>
              </a:lnSpc>
            </a:pPr>
            <a:r>
              <a:rPr lang="fr-FR" sz="1200" dirty="0">
                <a:solidFill>
                  <a:srgbClr val="495057"/>
                </a:solidFill>
                <a:latin typeface="Inter"/>
                <a:ea typeface="Inter"/>
                <a:cs typeface="Inter" pitchFamily="34" charset="-120"/>
              </a:rPr>
              <a:t>D3.js est la boîte à outils des artistes du web, permettant de dessiner des visualisations uniques. C'est un code pour repousser les limites quand les graphiques standards ne suffisent plus.</a:t>
            </a:r>
            <a:endParaRPr lang="en-US" sz="1200" dirty="0">
              <a:latin typeface="Inter"/>
              <a:ea typeface="Inter"/>
            </a:endParaRPr>
          </a:p>
        </p:txBody>
      </p:sp>
      <p:pic>
        <p:nvPicPr>
          <p:cNvPr id="10" name="Image 2" descr="preencoded.png"/>
          <p:cNvPicPr>
            <a:picLocks noChangeAspect="1"/>
          </p:cNvPicPr>
          <p:nvPr/>
        </p:nvPicPr>
        <p:blipFill>
          <a:blip r:embed="rId5"/>
          <a:stretch>
            <a:fillRect/>
          </a:stretch>
        </p:blipFill>
        <p:spPr>
          <a:xfrm>
            <a:off x="294597" y="2371279"/>
            <a:ext cx="185738" cy="185738"/>
          </a:xfrm>
          <a:prstGeom prst="rect">
            <a:avLst/>
          </a:prstGeom>
        </p:spPr>
      </p:pic>
      <p:sp>
        <p:nvSpPr>
          <p:cNvPr id="11" name="Text 6"/>
          <p:cNvSpPr/>
          <p:nvPr/>
        </p:nvSpPr>
        <p:spPr>
          <a:xfrm>
            <a:off x="585788" y="2332038"/>
            <a:ext cx="1384102" cy="235744"/>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0D6EFD"/>
                </a:solidFill>
                <a:latin typeface="Space Grotesk" pitchFamily="34" charset="0"/>
                <a:ea typeface="Space Grotesk" pitchFamily="34" charset="-122"/>
                <a:cs typeface="Space Grotesk" pitchFamily="34" charset="-120"/>
              </a:rPr>
              <a:t>À quoi ça sert ?</a:t>
            </a:r>
            <a:endParaRPr lang="en-US" sz="1295" dirty="0"/>
          </a:p>
        </p:txBody>
      </p:sp>
      <p:sp>
        <p:nvSpPr>
          <p:cNvPr id="12" name="Text 7"/>
          <p:cNvSpPr/>
          <p:nvPr/>
        </p:nvSpPr>
        <p:spPr>
          <a:xfrm>
            <a:off x="294597" y="2708379"/>
            <a:ext cx="3642643" cy="853054"/>
          </a:xfrm>
          <a:prstGeom prst="rect">
            <a:avLst/>
          </a:prstGeom>
          <a:noFill/>
          <a:ln/>
        </p:spPr>
        <p:txBody>
          <a:bodyPr wrap="square" lIns="0" tIns="0" rIns="0" bIns="0" rtlCol="0" anchor="t">
            <a:spAutoFit/>
          </a:bodyPr>
          <a:lstStyle/>
          <a:p>
            <a:pPr marL="0" indent="0" algn="l">
              <a:lnSpc>
                <a:spcPts val="1700"/>
              </a:lnSpc>
              <a:buNone/>
            </a:pPr>
            <a:r>
              <a:rPr lang="en-US" sz="1100" dirty="0">
                <a:solidFill>
                  <a:srgbClr val="495057"/>
                </a:solidFill>
                <a:latin typeface="Inter"/>
                <a:ea typeface="Inter" pitchFamily="34" charset="-122"/>
                <a:cs typeface="Inter" pitchFamily="34" charset="-120"/>
              </a:rPr>
              <a:t>Quand les graphiques standards ne suffisent plus et qu'on veut une visualisation unique au monde.</a:t>
            </a:r>
          </a:p>
          <a:p>
            <a:pPr marL="0" indent="0" algn="l">
              <a:lnSpc>
                <a:spcPts val="1700"/>
              </a:lnSpc>
              <a:buNone/>
            </a:pPr>
            <a:r>
              <a:rPr lang="fr-FR" sz="1100" dirty="0">
                <a:latin typeface="Inter"/>
              </a:rPr>
              <a:t>Sert à </a:t>
            </a:r>
            <a:r>
              <a:rPr lang="fr-FR" sz="1100" b="1" dirty="0">
                <a:latin typeface="Inter"/>
              </a:rPr>
              <a:t>développer des visualisations web avancées et personnalisées</a:t>
            </a:r>
            <a:r>
              <a:rPr lang="fr-FR" sz="1100" dirty="0">
                <a:latin typeface="Inter"/>
              </a:rPr>
              <a:t> (graphiques dynamiques).</a:t>
            </a:r>
            <a:endParaRPr lang="en-US" sz="1100" dirty="0">
              <a:latin typeface="Inter"/>
            </a:endParaRPr>
          </a:p>
        </p:txBody>
      </p:sp>
      <p:sp>
        <p:nvSpPr>
          <p:cNvPr id="13" name="Text 8"/>
          <p:cNvSpPr/>
          <p:nvPr/>
        </p:nvSpPr>
        <p:spPr>
          <a:xfrm>
            <a:off x="292894" y="3136106"/>
            <a:ext cx="128818" cy="132344"/>
          </a:xfrm>
          <a:prstGeom prst="rect">
            <a:avLst/>
          </a:prstGeom>
          <a:noFill/>
          <a:ln/>
        </p:spPr>
        <p:txBody>
          <a:bodyPr wrap="none" lIns="127508" tIns="0" rIns="0" bIns="0" rtlCol="0" anchor="t">
            <a:spAutoFit/>
          </a:bodyPr>
          <a:lstStyle/>
          <a:p>
            <a:pPr marL="0" indent="0" algn="l">
              <a:lnSpc>
                <a:spcPts val="1100"/>
              </a:lnSpc>
              <a:buNone/>
            </a:pPr>
            <a:endParaRPr lang="en-US" sz="784" dirty="0"/>
          </a:p>
        </p:txBody>
      </p:sp>
      <p:sp>
        <p:nvSpPr>
          <p:cNvPr id="14" name="Shape 9"/>
          <p:cNvSpPr/>
          <p:nvPr/>
        </p:nvSpPr>
        <p:spPr>
          <a:xfrm>
            <a:off x="4156993" y="578644"/>
            <a:ext cx="4979836" cy="3986213"/>
          </a:xfrm>
          <a:prstGeom prst="rect">
            <a:avLst/>
          </a:prstGeom>
          <a:solidFill>
            <a:srgbClr val="FDFDFD"/>
          </a:solidFill>
          <a:ln/>
        </p:spPr>
        <p:txBody>
          <a:bodyPr/>
          <a:lstStyle/>
          <a:p>
            <a:endParaRPr lang="fr-FR"/>
          </a:p>
        </p:txBody>
      </p:sp>
      <p:pic>
        <p:nvPicPr>
          <p:cNvPr id="15" name="Image 3" descr="preencoded.png"/>
          <p:cNvPicPr>
            <a:picLocks noChangeAspect="1"/>
          </p:cNvPicPr>
          <p:nvPr/>
        </p:nvPicPr>
        <p:blipFill>
          <a:blip r:embed="rId6"/>
          <a:stretch>
            <a:fillRect/>
          </a:stretch>
        </p:blipFill>
        <p:spPr>
          <a:xfrm>
            <a:off x="4240562" y="1003697"/>
            <a:ext cx="4812698" cy="3213795"/>
          </a:xfrm>
          <a:prstGeom prst="rect">
            <a:avLst/>
          </a:prstGeom>
        </p:spPr>
      </p:pic>
      <p:sp>
        <p:nvSpPr>
          <p:cNvPr id="16" name="Shape 10"/>
          <p:cNvSpPr/>
          <p:nvPr/>
        </p:nvSpPr>
        <p:spPr>
          <a:xfrm>
            <a:off x="7144" y="4564856"/>
            <a:ext cx="9129713" cy="571500"/>
          </a:xfrm>
          <a:prstGeom prst="rect">
            <a:avLst/>
          </a:prstGeom>
          <a:solidFill>
            <a:srgbClr val="212529"/>
          </a:solidFill>
          <a:ln/>
        </p:spPr>
        <p:txBody>
          <a:bodyPr/>
          <a:lstStyle/>
          <a:p>
            <a:endParaRPr lang="fr-FR"/>
          </a:p>
        </p:txBody>
      </p:sp>
      <p:pic>
        <p:nvPicPr>
          <p:cNvPr id="17" name="Image 4" descr="preencoded.png"/>
          <p:cNvPicPr>
            <a:picLocks noChangeAspect="1"/>
          </p:cNvPicPr>
          <p:nvPr/>
        </p:nvPicPr>
        <p:blipFill>
          <a:blip r:embed="rId7"/>
          <a:stretch>
            <a:fillRect/>
          </a:stretch>
        </p:blipFill>
        <p:spPr>
          <a:xfrm>
            <a:off x="221456" y="4786313"/>
            <a:ext cx="128588" cy="128588"/>
          </a:xfrm>
          <a:prstGeom prst="rect">
            <a:avLst/>
          </a:prstGeom>
        </p:spPr>
      </p:pic>
      <p:sp>
        <p:nvSpPr>
          <p:cNvPr id="18" name="Text 11"/>
          <p:cNvSpPr/>
          <p:nvPr/>
        </p:nvSpPr>
        <p:spPr>
          <a:xfrm>
            <a:off x="350044" y="4765774"/>
            <a:ext cx="4146947" cy="169664"/>
          </a:xfrm>
          <a:prstGeom prst="rect">
            <a:avLst/>
          </a:prstGeom>
          <a:noFill/>
          <a:ln/>
        </p:spPr>
        <p:txBody>
          <a:bodyPr wrap="none" lIns="0" tIns="0" rIns="0" bIns="0" rtlCol="0" anchor="t">
            <a:spAutoFit/>
          </a:bodyPr>
          <a:lstStyle/>
          <a:p>
            <a:pPr marL="0" indent="0" algn="l">
              <a:lnSpc>
                <a:spcPts val="1200"/>
              </a:lnSpc>
              <a:buNone/>
            </a:pPr>
            <a:r>
              <a:rPr lang="en-US" sz="942" dirty="0">
                <a:solidFill>
                  <a:srgbClr val="20C997"/>
                </a:solidFill>
                <a:latin typeface="JetBrains Mono" pitchFamily="34" charset="0"/>
                <a:ea typeface="JetBrains Mono" pitchFamily="34" charset="-122"/>
                <a:cs typeface="JetBrains Mono" pitchFamily="34" charset="-120"/>
              </a:rPr>
              <a:t>Bibliothèque JavaScript pour visualisations sur mesure</a:t>
            </a:r>
            <a:endParaRPr lang="en-US" sz="942"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7144" y="7144"/>
            <a:ext cx="9129713" cy="571500"/>
          </a:xfrm>
          <a:prstGeom prst="rect">
            <a:avLst/>
          </a:prstGeom>
          <a:solidFill>
            <a:srgbClr val="FFFFFF"/>
          </a:solidFill>
          <a:ln/>
        </p:spPr>
        <p:txBody>
          <a:bodyPr/>
          <a:lstStyle/>
          <a:p>
            <a:endParaRPr lang="fr-FR"/>
          </a:p>
        </p:txBody>
      </p:sp>
      <p:sp>
        <p:nvSpPr>
          <p:cNvPr id="4" name="Shape 1"/>
          <p:cNvSpPr/>
          <p:nvPr/>
        </p:nvSpPr>
        <p:spPr>
          <a:xfrm>
            <a:off x="7144" y="564356"/>
            <a:ext cx="9129713" cy="14288"/>
          </a:xfrm>
          <a:prstGeom prst="rect">
            <a:avLst/>
          </a:prstGeom>
          <a:solidFill>
            <a:srgbClr val="20C997"/>
          </a:solidFill>
          <a:ln/>
        </p:spPr>
        <p:txBody>
          <a:bodyPr/>
          <a:lstStyle/>
          <a:p>
            <a:endParaRPr lang="fr-FR"/>
          </a:p>
        </p:txBody>
      </p:sp>
      <p:sp>
        <p:nvSpPr>
          <p:cNvPr id="5" name="Text 2"/>
          <p:cNvSpPr/>
          <p:nvPr/>
        </p:nvSpPr>
        <p:spPr>
          <a:xfrm>
            <a:off x="292894" y="141982"/>
            <a:ext cx="5088136" cy="30182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212529"/>
                </a:solidFill>
                <a:latin typeface="JetBrains Mono" pitchFamily="34" charset="0"/>
                <a:ea typeface="JetBrains Mono" pitchFamily="34" charset="-122"/>
                <a:cs typeface="JetBrains Mono" pitchFamily="34" charset="-120"/>
              </a:rPr>
              <a:t>DATABRICKS : L'USINE À DONNÉES GÉANTE</a:t>
            </a:r>
            <a:endParaRPr lang="en-US" sz="1602" dirty="0"/>
          </a:p>
        </p:txBody>
      </p:sp>
      <p:sp>
        <p:nvSpPr>
          <p:cNvPr id="6" name="Shape 3"/>
          <p:cNvSpPr/>
          <p:nvPr/>
        </p:nvSpPr>
        <p:spPr>
          <a:xfrm>
            <a:off x="7144" y="578644"/>
            <a:ext cx="9129713" cy="3986213"/>
          </a:xfrm>
          <a:prstGeom prst="rect">
            <a:avLst/>
          </a:prstGeom>
          <a:solidFill>
            <a:srgbClr val="FFFFFF"/>
          </a:solidFill>
          <a:ln/>
        </p:spPr>
        <p:txBody>
          <a:bodyPr/>
          <a:lstStyle/>
          <a:p>
            <a:endParaRPr lang="fr-FR"/>
          </a:p>
        </p:txBody>
      </p:sp>
      <p:sp>
        <p:nvSpPr>
          <p:cNvPr id="7" name="Shape 4"/>
          <p:cNvSpPr/>
          <p:nvPr/>
        </p:nvSpPr>
        <p:spPr>
          <a:xfrm>
            <a:off x="7144" y="578644"/>
            <a:ext cx="4979836" cy="3986213"/>
          </a:xfrm>
          <a:prstGeom prst="rect">
            <a:avLst/>
          </a:prstGeom>
          <a:solidFill>
            <a:srgbClr val="FDFDFD"/>
          </a:solidFill>
          <a:ln/>
        </p:spPr>
        <p:txBody>
          <a:bodyPr/>
          <a:lstStyle/>
          <a:p>
            <a:endParaRPr lang="fr-FR"/>
          </a:p>
        </p:txBody>
      </p:sp>
      <p:sp>
        <p:nvSpPr>
          <p:cNvPr id="8" name="Shape 5"/>
          <p:cNvSpPr/>
          <p:nvPr/>
        </p:nvSpPr>
        <p:spPr>
          <a:xfrm>
            <a:off x="4979836" y="578644"/>
            <a:ext cx="7144" cy="3986213"/>
          </a:xfrm>
          <a:prstGeom prst="rect">
            <a:avLst/>
          </a:prstGeom>
          <a:solidFill>
            <a:srgbClr val="DEE2E6"/>
          </a:solidFill>
          <a:ln/>
        </p:spPr>
        <p:txBody>
          <a:bodyPr/>
          <a:lstStyle/>
          <a:p>
            <a:endParaRPr lang="fr-FR"/>
          </a:p>
        </p:txBody>
      </p:sp>
      <p:pic>
        <p:nvPicPr>
          <p:cNvPr id="9" name="Image 1" descr="preencoded.png"/>
          <p:cNvPicPr>
            <a:picLocks noChangeAspect="1"/>
          </p:cNvPicPr>
          <p:nvPr/>
        </p:nvPicPr>
        <p:blipFill>
          <a:blip r:embed="rId4"/>
          <a:stretch>
            <a:fillRect/>
          </a:stretch>
        </p:blipFill>
        <p:spPr>
          <a:xfrm>
            <a:off x="147759" y="894201"/>
            <a:ext cx="4641023" cy="3099155"/>
          </a:xfrm>
          <a:prstGeom prst="rect">
            <a:avLst/>
          </a:prstGeom>
        </p:spPr>
      </p:pic>
      <p:pic>
        <p:nvPicPr>
          <p:cNvPr id="10" name="Image 2" descr="preencoded.png"/>
          <p:cNvPicPr>
            <a:picLocks noChangeAspect="1"/>
          </p:cNvPicPr>
          <p:nvPr/>
        </p:nvPicPr>
        <p:blipFill>
          <a:blip r:embed="rId5"/>
          <a:stretch>
            <a:fillRect/>
          </a:stretch>
        </p:blipFill>
        <p:spPr>
          <a:xfrm>
            <a:off x="5272729" y="1003697"/>
            <a:ext cx="208955" cy="185738"/>
          </a:xfrm>
          <a:prstGeom prst="rect">
            <a:avLst/>
          </a:prstGeom>
        </p:spPr>
      </p:pic>
      <p:sp>
        <p:nvSpPr>
          <p:cNvPr id="11" name="Text 6"/>
          <p:cNvSpPr/>
          <p:nvPr/>
        </p:nvSpPr>
        <p:spPr>
          <a:xfrm>
            <a:off x="5560879" y="1003697"/>
            <a:ext cx="1055489" cy="235744"/>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20C997"/>
                </a:solidFill>
                <a:latin typeface="Space Grotesk" pitchFamily="34" charset="0"/>
                <a:ea typeface="Space Grotesk" pitchFamily="34" charset="-122"/>
                <a:cs typeface="Space Grotesk" pitchFamily="34" charset="-120"/>
              </a:rPr>
              <a:t>C'est quoi ?</a:t>
            </a:r>
            <a:endParaRPr lang="en-US" sz="1295" dirty="0"/>
          </a:p>
        </p:txBody>
      </p:sp>
      <p:sp>
        <p:nvSpPr>
          <p:cNvPr id="12" name="Text 7"/>
          <p:cNvSpPr/>
          <p:nvPr/>
        </p:nvSpPr>
        <p:spPr>
          <a:xfrm>
            <a:off x="5272729" y="1357313"/>
            <a:ext cx="3649787" cy="853054"/>
          </a:xfrm>
          <a:prstGeom prst="rect">
            <a:avLst/>
          </a:prstGeom>
          <a:noFill/>
          <a:ln/>
        </p:spPr>
        <p:txBody>
          <a:bodyPr wrap="square" lIns="0" tIns="0" rIns="0" bIns="0" rtlCol="0" anchor="t">
            <a:spAutoFit/>
          </a:bodyPr>
          <a:lstStyle/>
          <a:p>
            <a:pPr>
              <a:lnSpc>
                <a:spcPts val="1700"/>
              </a:lnSpc>
            </a:pPr>
            <a:r>
              <a:rPr lang="fr-FR" sz="1200" dirty="0" err="1">
                <a:solidFill>
                  <a:srgbClr val="495057"/>
                </a:solidFill>
                <a:latin typeface="Inter" pitchFamily="34" charset="0"/>
                <a:ea typeface="Inter" pitchFamily="34" charset="-122"/>
                <a:cs typeface="Inter" pitchFamily="34" charset="-120"/>
              </a:rPr>
              <a:t>Databricks</a:t>
            </a:r>
            <a:r>
              <a:rPr lang="fr-FR" sz="1200" dirty="0">
                <a:solidFill>
                  <a:srgbClr val="495057"/>
                </a:solidFill>
                <a:latin typeface="Inter" pitchFamily="34" charset="0"/>
                <a:ea typeface="Inter" pitchFamily="34" charset="-122"/>
                <a:cs typeface="Inter" pitchFamily="34" charset="-120"/>
              </a:rPr>
              <a:t> est une plateforme </a:t>
            </a:r>
            <a:r>
              <a:rPr lang="fr-FR" sz="1200" dirty="0" err="1">
                <a:solidFill>
                  <a:srgbClr val="495057"/>
                </a:solidFill>
                <a:latin typeface="Inter" pitchFamily="34" charset="0"/>
                <a:ea typeface="Inter" pitchFamily="34" charset="-122"/>
                <a:cs typeface="Inter" pitchFamily="34" charset="-120"/>
              </a:rPr>
              <a:t>ultra-puissante</a:t>
            </a:r>
            <a:r>
              <a:rPr lang="fr-FR" sz="1200" dirty="0">
                <a:solidFill>
                  <a:srgbClr val="495057"/>
                </a:solidFill>
                <a:latin typeface="Inter" pitchFamily="34" charset="0"/>
                <a:ea typeface="Inter" pitchFamily="34" charset="-122"/>
                <a:cs typeface="Inter" pitchFamily="34" charset="-120"/>
              </a:rPr>
              <a:t> capable de traiter des montagnes de données en quelques secondes. C'est l'endroit où ingénieurs et scientifiques créent ensemble de l'Intelligence Artificielle.</a:t>
            </a:r>
            <a:endParaRPr lang="en-US" sz="1200" dirty="0"/>
          </a:p>
        </p:txBody>
      </p:sp>
      <p:pic>
        <p:nvPicPr>
          <p:cNvPr id="13" name="Image 3" descr="preencoded.png"/>
          <p:cNvPicPr>
            <a:picLocks noChangeAspect="1"/>
          </p:cNvPicPr>
          <p:nvPr/>
        </p:nvPicPr>
        <p:blipFill>
          <a:blip r:embed="rId6"/>
          <a:stretch>
            <a:fillRect/>
          </a:stretch>
        </p:blipFill>
        <p:spPr>
          <a:xfrm>
            <a:off x="5274556" y="2607469"/>
            <a:ext cx="185738" cy="185738"/>
          </a:xfrm>
          <a:prstGeom prst="rect">
            <a:avLst/>
          </a:prstGeom>
        </p:spPr>
      </p:pic>
      <p:sp>
        <p:nvSpPr>
          <p:cNvPr id="14" name="Text 8"/>
          <p:cNvSpPr/>
          <p:nvPr/>
        </p:nvSpPr>
        <p:spPr>
          <a:xfrm>
            <a:off x="5560879" y="2581841"/>
            <a:ext cx="1384102" cy="235744"/>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20C997"/>
                </a:solidFill>
                <a:latin typeface="Space Grotesk" pitchFamily="34" charset="0"/>
                <a:ea typeface="Space Grotesk" pitchFamily="34" charset="-122"/>
                <a:cs typeface="Space Grotesk" pitchFamily="34" charset="-120"/>
              </a:rPr>
              <a:t>À quoi ça sert ?</a:t>
            </a:r>
            <a:endParaRPr lang="en-US" sz="1295" dirty="0"/>
          </a:p>
        </p:txBody>
      </p:sp>
      <p:sp>
        <p:nvSpPr>
          <p:cNvPr id="15" name="Text 9"/>
          <p:cNvSpPr/>
          <p:nvPr/>
        </p:nvSpPr>
        <p:spPr>
          <a:xfrm>
            <a:off x="5337138" y="2921794"/>
            <a:ext cx="3649787" cy="853054"/>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495057"/>
                </a:solidFill>
                <a:latin typeface="Inter" pitchFamily="34" charset="0"/>
                <a:ea typeface="Inter"/>
                <a:cs typeface="Inter" pitchFamily="34" charset="-120"/>
              </a:rPr>
              <a:t>C'est là que les ingénieurs et les scientifiques créent ensemble de l'Intelligence </a:t>
            </a:r>
            <a:r>
              <a:rPr lang="en-US" sz="1050" dirty="0" err="1">
                <a:solidFill>
                  <a:srgbClr val="495057"/>
                </a:solidFill>
                <a:latin typeface="Inter" pitchFamily="34" charset="0"/>
                <a:ea typeface="Inter"/>
                <a:cs typeface="Inter" pitchFamily="34" charset="-120"/>
              </a:rPr>
              <a:t>Artificielle</a:t>
            </a:r>
            <a:r>
              <a:rPr lang="en-US" sz="1050" dirty="0">
                <a:solidFill>
                  <a:srgbClr val="495057"/>
                </a:solidFill>
                <a:latin typeface="Inter" pitchFamily="34" charset="0"/>
                <a:ea typeface="Inter"/>
                <a:cs typeface="Inter" pitchFamily="34" charset="-120"/>
              </a:rPr>
              <a:t>.</a:t>
            </a:r>
          </a:p>
          <a:p>
            <a:pPr>
              <a:lnSpc>
                <a:spcPts val="1700"/>
              </a:lnSpc>
            </a:pPr>
            <a:r>
              <a:rPr lang="fr-FR" sz="1050" dirty="0">
                <a:ea typeface="Inter"/>
              </a:rPr>
              <a:t>Sert à </a:t>
            </a:r>
            <a:r>
              <a:rPr lang="fr-FR" sz="1050" b="1" dirty="0">
                <a:ea typeface="Inter"/>
              </a:rPr>
              <a:t>traiter de grandes quantités de données (Big Data)</a:t>
            </a:r>
            <a:r>
              <a:rPr lang="fr-FR" sz="1050" dirty="0">
                <a:ea typeface="Inter"/>
              </a:rPr>
              <a:t> et développer des modèles de Machine Learning.</a:t>
            </a:r>
            <a:endParaRPr lang="en-US" sz="1050" dirty="0">
              <a:ea typeface="Inter"/>
            </a:endParaRPr>
          </a:p>
        </p:txBody>
      </p:sp>
      <p:sp>
        <p:nvSpPr>
          <p:cNvPr id="16" name="Text 10"/>
          <p:cNvSpPr/>
          <p:nvPr/>
        </p:nvSpPr>
        <p:spPr>
          <a:xfrm>
            <a:off x="5272729" y="2921794"/>
            <a:ext cx="128818" cy="132344"/>
          </a:xfrm>
          <a:prstGeom prst="rect">
            <a:avLst/>
          </a:prstGeom>
          <a:noFill/>
          <a:ln/>
        </p:spPr>
        <p:txBody>
          <a:bodyPr wrap="none" lIns="127508" tIns="0" rIns="0" bIns="0" rtlCol="0" anchor="t">
            <a:spAutoFit/>
          </a:bodyPr>
          <a:lstStyle/>
          <a:p>
            <a:pPr marL="0" indent="0" algn="l">
              <a:lnSpc>
                <a:spcPts val="1100"/>
              </a:lnSpc>
              <a:buNone/>
            </a:pPr>
            <a:endParaRPr lang="en-US" sz="784" dirty="0"/>
          </a:p>
        </p:txBody>
      </p:sp>
      <p:sp>
        <p:nvSpPr>
          <p:cNvPr id="17" name="Shape 11"/>
          <p:cNvSpPr/>
          <p:nvPr/>
        </p:nvSpPr>
        <p:spPr>
          <a:xfrm>
            <a:off x="7144" y="4564856"/>
            <a:ext cx="9129713" cy="571500"/>
          </a:xfrm>
          <a:prstGeom prst="rect">
            <a:avLst/>
          </a:prstGeom>
          <a:solidFill>
            <a:srgbClr val="212529"/>
          </a:solidFill>
          <a:ln/>
        </p:spPr>
        <p:txBody>
          <a:bodyPr/>
          <a:lstStyle/>
          <a:p>
            <a:endParaRPr lang="fr-FR"/>
          </a:p>
        </p:txBody>
      </p:sp>
      <p:pic>
        <p:nvPicPr>
          <p:cNvPr id="18" name="Image 4" descr="preencoded.png"/>
          <p:cNvPicPr>
            <a:picLocks noChangeAspect="1"/>
          </p:cNvPicPr>
          <p:nvPr/>
        </p:nvPicPr>
        <p:blipFill>
          <a:blip r:embed="rId7"/>
          <a:stretch>
            <a:fillRect/>
          </a:stretch>
        </p:blipFill>
        <p:spPr>
          <a:xfrm>
            <a:off x="221456" y="4786313"/>
            <a:ext cx="128588" cy="128588"/>
          </a:xfrm>
          <a:prstGeom prst="rect">
            <a:avLst/>
          </a:prstGeom>
        </p:spPr>
      </p:pic>
      <p:sp>
        <p:nvSpPr>
          <p:cNvPr id="19" name="Text 12"/>
          <p:cNvSpPr/>
          <p:nvPr/>
        </p:nvSpPr>
        <p:spPr>
          <a:xfrm>
            <a:off x="350044" y="4765774"/>
            <a:ext cx="3071813" cy="169664"/>
          </a:xfrm>
          <a:prstGeom prst="rect">
            <a:avLst/>
          </a:prstGeom>
          <a:noFill/>
          <a:ln/>
        </p:spPr>
        <p:txBody>
          <a:bodyPr wrap="none" lIns="0" tIns="0" rIns="0" bIns="0" rtlCol="0" anchor="t">
            <a:spAutoFit/>
          </a:bodyPr>
          <a:lstStyle/>
          <a:p>
            <a:pPr marL="0" indent="0" algn="l">
              <a:lnSpc>
                <a:spcPts val="1200"/>
              </a:lnSpc>
              <a:buNone/>
            </a:pPr>
            <a:r>
              <a:rPr lang="en-US" sz="942" dirty="0">
                <a:solidFill>
                  <a:srgbClr val="0D6EFD"/>
                </a:solidFill>
                <a:latin typeface="JetBrains Mono" pitchFamily="34" charset="0"/>
                <a:ea typeface="JetBrains Mono" pitchFamily="34" charset="-122"/>
                <a:cs typeface="JetBrains Mono" pitchFamily="34" charset="-120"/>
              </a:rPr>
              <a:t>Plateforme Lakehouse pour Big Data et IA</a:t>
            </a:r>
            <a:endParaRPr lang="en-US" sz="942"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7144" y="7144"/>
            <a:ext cx="9129713" cy="571500"/>
          </a:xfrm>
          <a:prstGeom prst="rect">
            <a:avLst/>
          </a:prstGeom>
          <a:solidFill>
            <a:srgbClr val="FFFFFF"/>
          </a:solidFill>
          <a:ln/>
        </p:spPr>
        <p:txBody>
          <a:bodyPr/>
          <a:lstStyle/>
          <a:p>
            <a:endParaRPr lang="fr-FR"/>
          </a:p>
        </p:txBody>
      </p:sp>
      <p:sp>
        <p:nvSpPr>
          <p:cNvPr id="4" name="Shape 1"/>
          <p:cNvSpPr/>
          <p:nvPr/>
        </p:nvSpPr>
        <p:spPr>
          <a:xfrm>
            <a:off x="7144" y="564356"/>
            <a:ext cx="9129713" cy="14288"/>
          </a:xfrm>
          <a:prstGeom prst="rect">
            <a:avLst/>
          </a:prstGeom>
          <a:solidFill>
            <a:srgbClr val="0D6EFD"/>
          </a:solidFill>
          <a:ln/>
        </p:spPr>
        <p:txBody>
          <a:bodyPr/>
          <a:lstStyle/>
          <a:p>
            <a:endParaRPr lang="fr-FR"/>
          </a:p>
        </p:txBody>
      </p:sp>
      <p:sp>
        <p:nvSpPr>
          <p:cNvPr id="5" name="Text 2"/>
          <p:cNvSpPr/>
          <p:nvPr/>
        </p:nvSpPr>
        <p:spPr>
          <a:xfrm>
            <a:off x="292894" y="141982"/>
            <a:ext cx="5913239" cy="30182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212529"/>
                </a:solidFill>
                <a:latin typeface="JetBrains Mono" pitchFamily="34" charset="0"/>
                <a:ea typeface="JetBrains Mono" pitchFamily="34" charset="-122"/>
                <a:cs typeface="JetBrains Mono" pitchFamily="34" charset="-120"/>
              </a:rPr>
              <a:t>DATAIKU : LE BUREAU COLLABORATIF DE LA DATA</a:t>
            </a:r>
            <a:endParaRPr lang="en-US" sz="1602" dirty="0"/>
          </a:p>
        </p:txBody>
      </p:sp>
      <p:sp>
        <p:nvSpPr>
          <p:cNvPr id="6" name="Shape 3"/>
          <p:cNvSpPr/>
          <p:nvPr/>
        </p:nvSpPr>
        <p:spPr>
          <a:xfrm>
            <a:off x="7144" y="578644"/>
            <a:ext cx="9129713" cy="3986213"/>
          </a:xfrm>
          <a:prstGeom prst="rect">
            <a:avLst/>
          </a:prstGeom>
          <a:solidFill>
            <a:srgbClr val="FFFFFF"/>
          </a:solidFill>
          <a:ln/>
        </p:spPr>
        <p:txBody>
          <a:bodyPr/>
          <a:lstStyle/>
          <a:p>
            <a:endParaRPr lang="fr-FR"/>
          </a:p>
        </p:txBody>
      </p:sp>
      <p:pic>
        <p:nvPicPr>
          <p:cNvPr id="7" name="Image 1" descr="preencoded.png"/>
          <p:cNvPicPr>
            <a:picLocks noChangeAspect="1"/>
          </p:cNvPicPr>
          <p:nvPr/>
        </p:nvPicPr>
        <p:blipFill>
          <a:blip r:embed="rId4"/>
          <a:stretch>
            <a:fillRect/>
          </a:stretch>
        </p:blipFill>
        <p:spPr>
          <a:xfrm>
            <a:off x="292894" y="1003697"/>
            <a:ext cx="232172" cy="185738"/>
          </a:xfrm>
          <a:prstGeom prst="rect">
            <a:avLst/>
          </a:prstGeom>
        </p:spPr>
      </p:pic>
      <p:sp>
        <p:nvSpPr>
          <p:cNvPr id="8" name="Text 4"/>
          <p:cNvSpPr/>
          <p:nvPr/>
        </p:nvSpPr>
        <p:spPr>
          <a:xfrm>
            <a:off x="632222" y="978694"/>
            <a:ext cx="1055489" cy="235744"/>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0D6EFD"/>
                </a:solidFill>
                <a:latin typeface="Space Grotesk" pitchFamily="34" charset="0"/>
                <a:ea typeface="Space Grotesk" pitchFamily="34" charset="-122"/>
                <a:cs typeface="Space Grotesk" pitchFamily="34" charset="-120"/>
              </a:rPr>
              <a:t>C'est quoi ?</a:t>
            </a:r>
            <a:endParaRPr lang="en-US" sz="1295" dirty="0"/>
          </a:p>
        </p:txBody>
      </p:sp>
      <p:sp>
        <p:nvSpPr>
          <p:cNvPr id="9" name="Text 5"/>
          <p:cNvSpPr/>
          <p:nvPr/>
        </p:nvSpPr>
        <p:spPr>
          <a:xfrm>
            <a:off x="344532" y="1286500"/>
            <a:ext cx="3642643" cy="853054"/>
          </a:xfrm>
          <a:prstGeom prst="rect">
            <a:avLst/>
          </a:prstGeom>
          <a:noFill/>
          <a:ln/>
        </p:spPr>
        <p:txBody>
          <a:bodyPr wrap="square" lIns="0" tIns="0" rIns="0" bIns="0" rtlCol="0" anchor="t">
            <a:spAutoFit/>
          </a:bodyPr>
          <a:lstStyle/>
          <a:p>
            <a:pPr>
              <a:lnSpc>
                <a:spcPts val="1700"/>
              </a:lnSpc>
            </a:pPr>
            <a:r>
              <a:rPr lang="fr-FR" sz="1200" dirty="0" err="1">
                <a:solidFill>
                  <a:srgbClr val="495057"/>
                </a:solidFill>
                <a:latin typeface="Inter"/>
                <a:ea typeface="Inter" pitchFamily="34" charset="-122"/>
                <a:cs typeface="Inter" pitchFamily="34" charset="-120"/>
              </a:rPr>
              <a:t>Dataiku</a:t>
            </a:r>
            <a:r>
              <a:rPr lang="fr-FR" sz="1200" dirty="0">
                <a:solidFill>
                  <a:srgbClr val="495057"/>
                </a:solidFill>
                <a:latin typeface="Inter"/>
                <a:ea typeface="Inter" pitchFamily="34" charset="-122"/>
                <a:cs typeface="Inter" pitchFamily="34" charset="-120"/>
              </a:rPr>
              <a:t> est un espace de travail où chacun peut participer, que vous soyez codeur ou préfériez une approche visuelle. Il permet de gérer tout le projet data, du nettoyage à la mise en production des modèles.</a:t>
            </a:r>
            <a:endParaRPr lang="en-US" sz="1200" dirty="0">
              <a:latin typeface="Inter"/>
            </a:endParaRPr>
          </a:p>
        </p:txBody>
      </p:sp>
      <p:pic>
        <p:nvPicPr>
          <p:cNvPr id="10" name="Image 2" descr="preencoded.png"/>
          <p:cNvPicPr>
            <a:picLocks noChangeAspect="1"/>
          </p:cNvPicPr>
          <p:nvPr/>
        </p:nvPicPr>
        <p:blipFill>
          <a:blip r:embed="rId5"/>
          <a:stretch>
            <a:fillRect/>
          </a:stretch>
        </p:blipFill>
        <p:spPr>
          <a:xfrm>
            <a:off x="317234" y="2468354"/>
            <a:ext cx="208955" cy="185738"/>
          </a:xfrm>
          <a:prstGeom prst="rect">
            <a:avLst/>
          </a:prstGeom>
        </p:spPr>
      </p:pic>
      <p:sp>
        <p:nvSpPr>
          <p:cNvPr id="11" name="Text 6"/>
          <p:cNvSpPr/>
          <p:nvPr/>
        </p:nvSpPr>
        <p:spPr>
          <a:xfrm>
            <a:off x="629695" y="2453878"/>
            <a:ext cx="1384102" cy="235744"/>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0D6EFD"/>
                </a:solidFill>
                <a:latin typeface="Space Grotesk" pitchFamily="34" charset="0"/>
                <a:ea typeface="Space Grotesk" pitchFamily="34" charset="-122"/>
                <a:cs typeface="Space Grotesk" pitchFamily="34" charset="-120"/>
              </a:rPr>
              <a:t>À quoi ça sert ?</a:t>
            </a:r>
            <a:endParaRPr lang="en-US" sz="1295" dirty="0"/>
          </a:p>
        </p:txBody>
      </p:sp>
      <p:sp>
        <p:nvSpPr>
          <p:cNvPr id="12" name="Text 7"/>
          <p:cNvSpPr/>
          <p:nvPr/>
        </p:nvSpPr>
        <p:spPr>
          <a:xfrm>
            <a:off x="260747" y="2782679"/>
            <a:ext cx="3642643" cy="853054"/>
          </a:xfrm>
          <a:prstGeom prst="rect">
            <a:avLst/>
          </a:prstGeom>
          <a:noFill/>
          <a:ln/>
        </p:spPr>
        <p:txBody>
          <a:bodyPr wrap="square" lIns="0" tIns="0" rIns="0" bIns="0" rtlCol="0" anchor="t">
            <a:spAutoFit/>
          </a:bodyPr>
          <a:lstStyle/>
          <a:p>
            <a:pPr marL="0" indent="0" algn="l">
              <a:lnSpc>
                <a:spcPts val="1700"/>
              </a:lnSpc>
              <a:buNone/>
            </a:pPr>
            <a:r>
              <a:rPr lang="en-US" sz="1200" dirty="0">
                <a:solidFill>
                  <a:srgbClr val="495057"/>
                </a:solidFill>
                <a:latin typeface="Inter" pitchFamily="34" charset="0"/>
                <a:ea typeface="Inter"/>
                <a:cs typeface="Inter" pitchFamily="34" charset="-120"/>
              </a:rPr>
              <a:t>À gérer tout le projet, du nettoyage jusqu'à la mise en production des </a:t>
            </a:r>
            <a:r>
              <a:rPr lang="en-US" sz="1200" dirty="0" err="1">
                <a:solidFill>
                  <a:srgbClr val="495057"/>
                </a:solidFill>
                <a:latin typeface="Inter" pitchFamily="34" charset="0"/>
                <a:ea typeface="Inter"/>
                <a:cs typeface="Inter" pitchFamily="34" charset="-120"/>
              </a:rPr>
              <a:t>modèles</a:t>
            </a:r>
            <a:r>
              <a:rPr lang="en-US" sz="1200" dirty="0">
                <a:solidFill>
                  <a:srgbClr val="495057"/>
                </a:solidFill>
                <a:latin typeface="Inter" pitchFamily="34" charset="0"/>
                <a:ea typeface="Inter"/>
                <a:cs typeface="Inter" pitchFamily="34" charset="-120"/>
              </a:rPr>
              <a:t>.</a:t>
            </a:r>
          </a:p>
          <a:p>
            <a:pPr>
              <a:lnSpc>
                <a:spcPts val="1700"/>
              </a:lnSpc>
            </a:pPr>
            <a:r>
              <a:rPr lang="fr-FR" sz="1200" dirty="0">
                <a:ea typeface="Inter"/>
              </a:rPr>
              <a:t>Sert à </a:t>
            </a:r>
            <a:r>
              <a:rPr lang="fr-FR" sz="1200" b="1" dirty="0">
                <a:ea typeface="Inter"/>
              </a:rPr>
              <a:t>préparer les données, analyser et créer des modèles prédictifs</a:t>
            </a:r>
            <a:r>
              <a:rPr lang="fr-FR" sz="1200" dirty="0">
                <a:ea typeface="Inter"/>
              </a:rPr>
              <a:t> facilement.</a:t>
            </a:r>
            <a:endParaRPr lang="en-US" sz="1200" dirty="0">
              <a:ea typeface="Inter"/>
            </a:endParaRPr>
          </a:p>
        </p:txBody>
      </p:sp>
      <p:sp>
        <p:nvSpPr>
          <p:cNvPr id="13" name="Text 8"/>
          <p:cNvSpPr/>
          <p:nvPr/>
        </p:nvSpPr>
        <p:spPr>
          <a:xfrm>
            <a:off x="292894" y="3136106"/>
            <a:ext cx="128818" cy="132344"/>
          </a:xfrm>
          <a:prstGeom prst="rect">
            <a:avLst/>
          </a:prstGeom>
          <a:noFill/>
          <a:ln/>
        </p:spPr>
        <p:txBody>
          <a:bodyPr wrap="none" lIns="127508" tIns="0" rIns="0" bIns="0" rtlCol="0" anchor="t">
            <a:spAutoFit/>
          </a:bodyPr>
          <a:lstStyle/>
          <a:p>
            <a:pPr marL="0" indent="0" algn="l">
              <a:lnSpc>
                <a:spcPts val="1100"/>
              </a:lnSpc>
              <a:buNone/>
            </a:pPr>
            <a:endParaRPr lang="en-US" sz="784" dirty="0"/>
          </a:p>
        </p:txBody>
      </p:sp>
      <p:sp>
        <p:nvSpPr>
          <p:cNvPr id="14" name="Shape 9"/>
          <p:cNvSpPr/>
          <p:nvPr/>
        </p:nvSpPr>
        <p:spPr>
          <a:xfrm>
            <a:off x="4156993" y="578644"/>
            <a:ext cx="4979836" cy="3986213"/>
          </a:xfrm>
          <a:prstGeom prst="rect">
            <a:avLst/>
          </a:prstGeom>
          <a:solidFill>
            <a:srgbClr val="FDFDFD"/>
          </a:solidFill>
          <a:ln/>
        </p:spPr>
        <p:txBody>
          <a:bodyPr/>
          <a:lstStyle/>
          <a:p>
            <a:endParaRPr lang="fr-FR"/>
          </a:p>
        </p:txBody>
      </p:sp>
      <p:pic>
        <p:nvPicPr>
          <p:cNvPr id="15" name="Image 3" descr="preencoded.png"/>
          <p:cNvPicPr>
            <a:picLocks noChangeAspect="1"/>
          </p:cNvPicPr>
          <p:nvPr/>
        </p:nvPicPr>
        <p:blipFill>
          <a:blip r:embed="rId6"/>
          <a:stretch>
            <a:fillRect/>
          </a:stretch>
        </p:blipFill>
        <p:spPr>
          <a:xfrm>
            <a:off x="4324563" y="910579"/>
            <a:ext cx="4653568" cy="3207268"/>
          </a:xfrm>
          <a:prstGeom prst="rect">
            <a:avLst/>
          </a:prstGeom>
        </p:spPr>
      </p:pic>
      <p:sp>
        <p:nvSpPr>
          <p:cNvPr id="16" name="Shape 10"/>
          <p:cNvSpPr/>
          <p:nvPr/>
        </p:nvSpPr>
        <p:spPr>
          <a:xfrm>
            <a:off x="7144" y="4564856"/>
            <a:ext cx="9129713" cy="571500"/>
          </a:xfrm>
          <a:prstGeom prst="rect">
            <a:avLst/>
          </a:prstGeom>
          <a:solidFill>
            <a:srgbClr val="212529"/>
          </a:solidFill>
          <a:ln/>
        </p:spPr>
        <p:txBody>
          <a:bodyPr/>
          <a:lstStyle/>
          <a:p>
            <a:endParaRPr lang="fr-FR"/>
          </a:p>
        </p:txBody>
      </p:sp>
      <p:pic>
        <p:nvPicPr>
          <p:cNvPr id="17" name="Image 4" descr="preencoded.png"/>
          <p:cNvPicPr>
            <a:picLocks noChangeAspect="1"/>
          </p:cNvPicPr>
          <p:nvPr/>
        </p:nvPicPr>
        <p:blipFill>
          <a:blip r:embed="rId7"/>
          <a:stretch>
            <a:fillRect/>
          </a:stretch>
        </p:blipFill>
        <p:spPr>
          <a:xfrm>
            <a:off x="221456" y="4786313"/>
            <a:ext cx="128588" cy="128588"/>
          </a:xfrm>
          <a:prstGeom prst="rect">
            <a:avLst/>
          </a:prstGeom>
        </p:spPr>
      </p:pic>
      <p:sp>
        <p:nvSpPr>
          <p:cNvPr id="18" name="Text 11"/>
          <p:cNvSpPr/>
          <p:nvPr/>
        </p:nvSpPr>
        <p:spPr>
          <a:xfrm>
            <a:off x="350044" y="4765774"/>
            <a:ext cx="3071813" cy="169664"/>
          </a:xfrm>
          <a:prstGeom prst="rect">
            <a:avLst/>
          </a:prstGeom>
          <a:noFill/>
          <a:ln/>
        </p:spPr>
        <p:txBody>
          <a:bodyPr wrap="none" lIns="0" tIns="0" rIns="0" bIns="0" rtlCol="0" anchor="t">
            <a:spAutoFit/>
          </a:bodyPr>
          <a:lstStyle/>
          <a:p>
            <a:pPr marL="0" indent="0" algn="l">
              <a:lnSpc>
                <a:spcPts val="1200"/>
              </a:lnSpc>
              <a:buNone/>
            </a:pPr>
            <a:r>
              <a:rPr lang="en-US" sz="942" dirty="0">
                <a:solidFill>
                  <a:srgbClr val="20C997"/>
                </a:solidFill>
                <a:latin typeface="JetBrains Mono" pitchFamily="34" charset="0"/>
                <a:ea typeface="JetBrains Mono" pitchFamily="34" charset="-122"/>
                <a:cs typeface="JetBrains Mono" pitchFamily="34" charset="-120"/>
              </a:rPr>
              <a:t>Plateforme collaborative de Data Science</a:t>
            </a:r>
            <a:endParaRPr lang="en-US" sz="942"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7144" y="7144"/>
            <a:ext cx="9129713" cy="571500"/>
          </a:xfrm>
          <a:prstGeom prst="rect">
            <a:avLst/>
          </a:prstGeom>
          <a:solidFill>
            <a:srgbClr val="FFFFFF"/>
          </a:solidFill>
          <a:ln/>
        </p:spPr>
        <p:txBody>
          <a:bodyPr/>
          <a:lstStyle/>
          <a:p>
            <a:endParaRPr lang="fr-FR"/>
          </a:p>
        </p:txBody>
      </p:sp>
      <p:sp>
        <p:nvSpPr>
          <p:cNvPr id="4" name="Shape 1"/>
          <p:cNvSpPr/>
          <p:nvPr/>
        </p:nvSpPr>
        <p:spPr>
          <a:xfrm>
            <a:off x="7144" y="564356"/>
            <a:ext cx="9129713" cy="14288"/>
          </a:xfrm>
          <a:prstGeom prst="rect">
            <a:avLst/>
          </a:prstGeom>
          <a:solidFill>
            <a:srgbClr val="20C997"/>
          </a:solidFill>
          <a:ln/>
        </p:spPr>
        <p:txBody>
          <a:bodyPr/>
          <a:lstStyle/>
          <a:p>
            <a:endParaRPr lang="fr-FR"/>
          </a:p>
        </p:txBody>
      </p:sp>
      <p:sp>
        <p:nvSpPr>
          <p:cNvPr id="5" name="Text 2"/>
          <p:cNvSpPr/>
          <p:nvPr/>
        </p:nvSpPr>
        <p:spPr>
          <a:xfrm>
            <a:off x="292894" y="141982"/>
            <a:ext cx="5638205" cy="30182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212529"/>
                </a:solidFill>
                <a:latin typeface="JetBrains Mono" pitchFamily="34" charset="0"/>
                <a:ea typeface="JetBrains Mono" pitchFamily="34" charset="-122"/>
                <a:cs typeface="JetBrains Mono" pitchFamily="34" charset="-120"/>
              </a:rPr>
              <a:t>AIRFLOW : LE CHEF D'ORCHESTRE INFATIGABLE</a:t>
            </a:r>
            <a:endParaRPr lang="en-US" sz="1602" dirty="0"/>
          </a:p>
        </p:txBody>
      </p:sp>
      <p:sp>
        <p:nvSpPr>
          <p:cNvPr id="6" name="Shape 3"/>
          <p:cNvSpPr/>
          <p:nvPr/>
        </p:nvSpPr>
        <p:spPr>
          <a:xfrm>
            <a:off x="0" y="558106"/>
            <a:ext cx="9129713" cy="3986213"/>
          </a:xfrm>
          <a:prstGeom prst="rect">
            <a:avLst/>
          </a:prstGeom>
          <a:solidFill>
            <a:srgbClr val="FFFFFF"/>
          </a:solidFill>
          <a:ln/>
        </p:spPr>
        <p:txBody>
          <a:bodyPr/>
          <a:lstStyle/>
          <a:p>
            <a:endParaRPr lang="fr-FR"/>
          </a:p>
        </p:txBody>
      </p:sp>
      <p:sp>
        <p:nvSpPr>
          <p:cNvPr id="7" name="Shape 4"/>
          <p:cNvSpPr/>
          <p:nvPr/>
        </p:nvSpPr>
        <p:spPr>
          <a:xfrm>
            <a:off x="7144" y="578644"/>
            <a:ext cx="4979836" cy="3986213"/>
          </a:xfrm>
          <a:prstGeom prst="rect">
            <a:avLst/>
          </a:prstGeom>
          <a:solidFill>
            <a:srgbClr val="FDFDFD"/>
          </a:solidFill>
          <a:ln/>
        </p:spPr>
        <p:txBody>
          <a:bodyPr/>
          <a:lstStyle/>
          <a:p>
            <a:endParaRPr lang="fr-FR"/>
          </a:p>
        </p:txBody>
      </p:sp>
      <p:sp>
        <p:nvSpPr>
          <p:cNvPr id="8" name="Shape 5"/>
          <p:cNvSpPr/>
          <p:nvPr/>
        </p:nvSpPr>
        <p:spPr>
          <a:xfrm>
            <a:off x="4979836" y="578644"/>
            <a:ext cx="7144" cy="3986213"/>
          </a:xfrm>
          <a:prstGeom prst="rect">
            <a:avLst/>
          </a:prstGeom>
          <a:solidFill>
            <a:srgbClr val="DEE2E6"/>
          </a:solidFill>
          <a:ln/>
        </p:spPr>
        <p:txBody>
          <a:bodyPr/>
          <a:lstStyle/>
          <a:p>
            <a:endParaRPr lang="fr-FR"/>
          </a:p>
        </p:txBody>
      </p:sp>
      <p:pic>
        <p:nvPicPr>
          <p:cNvPr id="9" name="Image 1" descr="preencoded.png"/>
          <p:cNvPicPr>
            <a:picLocks noChangeAspect="1"/>
          </p:cNvPicPr>
          <p:nvPr/>
        </p:nvPicPr>
        <p:blipFill>
          <a:blip r:embed="rId4"/>
          <a:stretch>
            <a:fillRect/>
          </a:stretch>
        </p:blipFill>
        <p:spPr>
          <a:xfrm>
            <a:off x="116000" y="800100"/>
            <a:ext cx="4803337" cy="3207544"/>
          </a:xfrm>
          <a:prstGeom prst="rect">
            <a:avLst/>
          </a:prstGeom>
        </p:spPr>
      </p:pic>
      <p:pic>
        <p:nvPicPr>
          <p:cNvPr id="10" name="Image 2" descr="preencoded.png"/>
          <p:cNvPicPr>
            <a:picLocks noChangeAspect="1"/>
          </p:cNvPicPr>
          <p:nvPr/>
        </p:nvPicPr>
        <p:blipFill>
          <a:blip r:embed="rId5"/>
          <a:stretch>
            <a:fillRect/>
          </a:stretch>
        </p:blipFill>
        <p:spPr>
          <a:xfrm>
            <a:off x="5272729" y="1003697"/>
            <a:ext cx="232172" cy="185738"/>
          </a:xfrm>
          <a:prstGeom prst="rect">
            <a:avLst/>
          </a:prstGeom>
        </p:spPr>
      </p:pic>
      <p:sp>
        <p:nvSpPr>
          <p:cNvPr id="11" name="Text 6"/>
          <p:cNvSpPr/>
          <p:nvPr/>
        </p:nvSpPr>
        <p:spPr>
          <a:xfrm>
            <a:off x="5612057" y="978694"/>
            <a:ext cx="1055489" cy="235744"/>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20C997"/>
                </a:solidFill>
                <a:latin typeface="Space Grotesk" pitchFamily="34" charset="0"/>
                <a:ea typeface="Space Grotesk" pitchFamily="34" charset="-122"/>
                <a:cs typeface="Space Grotesk" pitchFamily="34" charset="-120"/>
              </a:rPr>
              <a:t>C'est quoi ?</a:t>
            </a:r>
            <a:endParaRPr lang="en-US" sz="1295" dirty="0"/>
          </a:p>
        </p:txBody>
      </p:sp>
      <p:sp>
        <p:nvSpPr>
          <p:cNvPr id="12" name="Text 7"/>
          <p:cNvSpPr/>
          <p:nvPr/>
        </p:nvSpPr>
        <p:spPr>
          <a:xfrm>
            <a:off x="5272729" y="1357313"/>
            <a:ext cx="3649787" cy="858184"/>
          </a:xfrm>
          <a:prstGeom prst="rect">
            <a:avLst/>
          </a:prstGeom>
          <a:noFill/>
          <a:ln/>
        </p:spPr>
        <p:txBody>
          <a:bodyPr wrap="square" lIns="0" tIns="0" rIns="0" bIns="0" rtlCol="0" anchor="t">
            <a:spAutoFit/>
          </a:bodyPr>
          <a:lstStyle/>
          <a:p>
            <a:pPr>
              <a:lnSpc>
                <a:spcPts val="1700"/>
              </a:lnSpc>
            </a:pPr>
            <a:r>
              <a:rPr lang="fr-FR" sz="1200" dirty="0" err="1">
                <a:solidFill>
                  <a:srgbClr val="495057"/>
                </a:solidFill>
                <a:latin typeface="Inter" pitchFamily="34" charset="0"/>
                <a:ea typeface="Inter" pitchFamily="34" charset="-122"/>
                <a:cs typeface="Inter" pitchFamily="34" charset="-120"/>
              </a:rPr>
              <a:t>Airflow</a:t>
            </a:r>
            <a:r>
              <a:rPr lang="fr-FR" sz="1200" dirty="0">
                <a:solidFill>
                  <a:srgbClr val="495057"/>
                </a:solidFill>
                <a:latin typeface="Inter" pitchFamily="34" charset="0"/>
                <a:ea typeface="Inter" pitchFamily="34" charset="-122"/>
                <a:cs typeface="Inter" pitchFamily="34" charset="-120"/>
              </a:rPr>
              <a:t> est un robot qui assure l'exécution des tâches dans le bon ordre et au bon moment. Il gère les échecs et automatise de manière fiable tout le flux de travail de la stack data.</a:t>
            </a:r>
            <a:endParaRPr lang="en-US" sz="1200" dirty="0"/>
          </a:p>
        </p:txBody>
      </p:sp>
      <p:pic>
        <p:nvPicPr>
          <p:cNvPr id="13" name="Image 3" descr="preencoded.png"/>
          <p:cNvPicPr>
            <a:picLocks noChangeAspect="1"/>
          </p:cNvPicPr>
          <p:nvPr/>
        </p:nvPicPr>
        <p:blipFill>
          <a:blip r:embed="rId6"/>
          <a:stretch>
            <a:fillRect/>
          </a:stretch>
        </p:blipFill>
        <p:spPr>
          <a:xfrm>
            <a:off x="5337138" y="2433489"/>
            <a:ext cx="185738" cy="185738"/>
          </a:xfrm>
          <a:prstGeom prst="rect">
            <a:avLst/>
          </a:prstGeom>
        </p:spPr>
      </p:pic>
      <p:sp>
        <p:nvSpPr>
          <p:cNvPr id="14" name="Text 8"/>
          <p:cNvSpPr/>
          <p:nvPr/>
        </p:nvSpPr>
        <p:spPr>
          <a:xfrm>
            <a:off x="5612057" y="2408486"/>
            <a:ext cx="1384102" cy="235744"/>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20C997"/>
                </a:solidFill>
                <a:latin typeface="Space Grotesk" pitchFamily="34" charset="0"/>
                <a:ea typeface="Space Grotesk" pitchFamily="34" charset="-122"/>
                <a:cs typeface="Space Grotesk" pitchFamily="34" charset="-120"/>
              </a:rPr>
              <a:t>À quoi ça sert ?</a:t>
            </a:r>
            <a:endParaRPr lang="en-US" sz="1295" dirty="0"/>
          </a:p>
        </p:txBody>
      </p:sp>
      <p:sp>
        <p:nvSpPr>
          <p:cNvPr id="15" name="Text 9"/>
          <p:cNvSpPr/>
          <p:nvPr/>
        </p:nvSpPr>
        <p:spPr>
          <a:xfrm>
            <a:off x="5233453" y="2786046"/>
            <a:ext cx="3649787" cy="635046"/>
          </a:xfrm>
          <a:prstGeom prst="rect">
            <a:avLst/>
          </a:prstGeom>
          <a:noFill/>
          <a:ln/>
        </p:spPr>
        <p:txBody>
          <a:bodyPr wrap="square" lIns="0" tIns="0" rIns="0" bIns="0" rtlCol="0" anchor="t">
            <a:spAutoFit/>
          </a:bodyPr>
          <a:lstStyle/>
          <a:p>
            <a:pPr marL="0" indent="0" algn="l">
              <a:lnSpc>
                <a:spcPts val="1700"/>
              </a:lnSpc>
              <a:buNone/>
            </a:pPr>
            <a:r>
              <a:rPr lang="en-US" sz="1100" dirty="0">
                <a:solidFill>
                  <a:srgbClr val="495057"/>
                </a:solidFill>
                <a:latin typeface="Inter" pitchFamily="34" charset="0"/>
                <a:ea typeface="Inter"/>
                <a:cs typeface="Inter" pitchFamily="34" charset="-120"/>
              </a:rPr>
              <a:t>À gérer les échecs et automatiser tout le flux de travail de façon </a:t>
            </a:r>
            <a:r>
              <a:rPr lang="en-US" sz="1100" dirty="0" err="1">
                <a:solidFill>
                  <a:srgbClr val="495057"/>
                </a:solidFill>
                <a:latin typeface="Inter" pitchFamily="34" charset="0"/>
                <a:ea typeface="Inter"/>
                <a:cs typeface="Inter" pitchFamily="34" charset="-120"/>
              </a:rPr>
              <a:t>fiable</a:t>
            </a:r>
            <a:r>
              <a:rPr lang="en-US" sz="1100" dirty="0">
                <a:solidFill>
                  <a:srgbClr val="495057"/>
                </a:solidFill>
                <a:latin typeface="Inter" pitchFamily="34" charset="0"/>
                <a:ea typeface="Inter"/>
                <a:cs typeface="Inter" pitchFamily="34" charset="-120"/>
              </a:rPr>
              <a:t>.</a:t>
            </a:r>
          </a:p>
          <a:p>
            <a:pPr>
              <a:lnSpc>
                <a:spcPts val="1700"/>
              </a:lnSpc>
            </a:pPr>
            <a:r>
              <a:rPr lang="fr-FR" sz="1100" dirty="0">
                <a:ea typeface="Inter"/>
              </a:rPr>
              <a:t>Sert à </a:t>
            </a:r>
            <a:r>
              <a:rPr lang="fr-FR" sz="1100" b="1" dirty="0">
                <a:ea typeface="Inter"/>
              </a:rPr>
              <a:t>automatiser les tâches et pipelines de données (ETL)</a:t>
            </a:r>
            <a:r>
              <a:rPr lang="fr-FR" sz="1100" dirty="0">
                <a:ea typeface="Inter"/>
              </a:rPr>
              <a:t>.</a:t>
            </a:r>
            <a:endParaRPr lang="en-US" sz="1100" dirty="0">
              <a:ea typeface="Inter"/>
            </a:endParaRPr>
          </a:p>
        </p:txBody>
      </p:sp>
      <p:sp>
        <p:nvSpPr>
          <p:cNvPr id="16" name="Text 10"/>
          <p:cNvSpPr/>
          <p:nvPr/>
        </p:nvSpPr>
        <p:spPr>
          <a:xfrm>
            <a:off x="5272729" y="2921794"/>
            <a:ext cx="128818" cy="132344"/>
          </a:xfrm>
          <a:prstGeom prst="rect">
            <a:avLst/>
          </a:prstGeom>
          <a:noFill/>
          <a:ln/>
        </p:spPr>
        <p:txBody>
          <a:bodyPr wrap="none" lIns="127508" tIns="0" rIns="0" bIns="0" rtlCol="0" anchor="t">
            <a:spAutoFit/>
          </a:bodyPr>
          <a:lstStyle/>
          <a:p>
            <a:pPr marL="0" indent="0" algn="l">
              <a:lnSpc>
                <a:spcPts val="1100"/>
              </a:lnSpc>
              <a:buNone/>
            </a:pPr>
            <a:endParaRPr lang="en-US" sz="784" dirty="0"/>
          </a:p>
        </p:txBody>
      </p:sp>
      <p:sp>
        <p:nvSpPr>
          <p:cNvPr id="17" name="Shape 11"/>
          <p:cNvSpPr/>
          <p:nvPr/>
        </p:nvSpPr>
        <p:spPr>
          <a:xfrm>
            <a:off x="7144" y="4564856"/>
            <a:ext cx="9129713" cy="571500"/>
          </a:xfrm>
          <a:prstGeom prst="rect">
            <a:avLst/>
          </a:prstGeom>
          <a:solidFill>
            <a:srgbClr val="212529"/>
          </a:solidFill>
          <a:ln/>
        </p:spPr>
        <p:txBody>
          <a:bodyPr/>
          <a:lstStyle/>
          <a:p>
            <a:endParaRPr lang="fr-FR"/>
          </a:p>
        </p:txBody>
      </p:sp>
      <p:pic>
        <p:nvPicPr>
          <p:cNvPr id="18" name="Image 4" descr="preencoded.png"/>
          <p:cNvPicPr>
            <a:picLocks noChangeAspect="1"/>
          </p:cNvPicPr>
          <p:nvPr/>
        </p:nvPicPr>
        <p:blipFill>
          <a:blip r:embed="rId7"/>
          <a:stretch>
            <a:fillRect/>
          </a:stretch>
        </p:blipFill>
        <p:spPr>
          <a:xfrm>
            <a:off x="221456" y="4786313"/>
            <a:ext cx="128588" cy="128588"/>
          </a:xfrm>
          <a:prstGeom prst="rect">
            <a:avLst/>
          </a:prstGeom>
        </p:spPr>
      </p:pic>
      <p:sp>
        <p:nvSpPr>
          <p:cNvPr id="19" name="Text 12"/>
          <p:cNvSpPr/>
          <p:nvPr/>
        </p:nvSpPr>
        <p:spPr>
          <a:xfrm>
            <a:off x="350044" y="4765774"/>
            <a:ext cx="3839766" cy="169664"/>
          </a:xfrm>
          <a:prstGeom prst="rect">
            <a:avLst/>
          </a:prstGeom>
          <a:noFill/>
          <a:ln/>
        </p:spPr>
        <p:txBody>
          <a:bodyPr wrap="none" lIns="0" tIns="0" rIns="0" bIns="0" rtlCol="0" anchor="t">
            <a:spAutoFit/>
          </a:bodyPr>
          <a:lstStyle/>
          <a:p>
            <a:pPr marL="0" indent="0" algn="l">
              <a:lnSpc>
                <a:spcPts val="1200"/>
              </a:lnSpc>
              <a:buNone/>
            </a:pPr>
            <a:r>
              <a:rPr lang="en-US" sz="942" dirty="0">
                <a:solidFill>
                  <a:srgbClr val="0D6EFD"/>
                </a:solidFill>
                <a:latin typeface="JetBrains Mono" pitchFamily="34" charset="0"/>
                <a:ea typeface="JetBrains Mono" pitchFamily="34" charset="-122"/>
                <a:cs typeface="JetBrains Mono" pitchFamily="34" charset="-120"/>
              </a:rPr>
              <a:t>Orchestrateur de workflows et pipelines de données</a:t>
            </a:r>
            <a:endParaRPr lang="en-US" sz="94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7144" y="7144"/>
            <a:ext cx="9129713" cy="571500"/>
          </a:xfrm>
          <a:prstGeom prst="rect">
            <a:avLst/>
          </a:prstGeom>
          <a:solidFill>
            <a:srgbClr val="FFFFFF"/>
          </a:solidFill>
          <a:ln/>
        </p:spPr>
        <p:txBody>
          <a:bodyPr/>
          <a:lstStyle/>
          <a:p>
            <a:endParaRPr lang="fr-FR"/>
          </a:p>
        </p:txBody>
      </p:sp>
      <p:sp>
        <p:nvSpPr>
          <p:cNvPr id="4" name="Shape 1"/>
          <p:cNvSpPr/>
          <p:nvPr/>
        </p:nvSpPr>
        <p:spPr>
          <a:xfrm>
            <a:off x="7144" y="564356"/>
            <a:ext cx="9129713" cy="14288"/>
          </a:xfrm>
          <a:prstGeom prst="rect">
            <a:avLst/>
          </a:prstGeom>
          <a:solidFill>
            <a:srgbClr val="0D6EFD"/>
          </a:solidFill>
          <a:ln/>
        </p:spPr>
        <p:txBody>
          <a:bodyPr/>
          <a:lstStyle/>
          <a:p>
            <a:endParaRPr lang="fr-FR"/>
          </a:p>
        </p:txBody>
      </p:sp>
      <p:sp>
        <p:nvSpPr>
          <p:cNvPr id="5" name="Text 2"/>
          <p:cNvSpPr/>
          <p:nvPr/>
        </p:nvSpPr>
        <p:spPr>
          <a:xfrm>
            <a:off x="292894" y="141982"/>
            <a:ext cx="5913239" cy="30182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212529"/>
                </a:solidFill>
                <a:latin typeface="JetBrains Mono" pitchFamily="34" charset="0"/>
                <a:ea typeface="JetBrains Mono" pitchFamily="34" charset="-122"/>
                <a:cs typeface="JetBrains Mono" pitchFamily="34" charset="-120"/>
              </a:rPr>
              <a:t>DBT : LA CUISINE DE PRÉPARATION DES DONNÉES</a:t>
            </a:r>
            <a:endParaRPr lang="en-US" sz="1602" dirty="0"/>
          </a:p>
        </p:txBody>
      </p:sp>
      <p:sp>
        <p:nvSpPr>
          <p:cNvPr id="6" name="Shape 3"/>
          <p:cNvSpPr/>
          <p:nvPr/>
        </p:nvSpPr>
        <p:spPr>
          <a:xfrm>
            <a:off x="7144" y="578644"/>
            <a:ext cx="9129713" cy="3986213"/>
          </a:xfrm>
          <a:prstGeom prst="rect">
            <a:avLst/>
          </a:prstGeom>
          <a:solidFill>
            <a:srgbClr val="FFFFFF"/>
          </a:solidFill>
          <a:ln/>
        </p:spPr>
        <p:txBody>
          <a:bodyPr/>
          <a:lstStyle/>
          <a:p>
            <a:endParaRPr lang="fr-FR"/>
          </a:p>
        </p:txBody>
      </p:sp>
      <p:pic>
        <p:nvPicPr>
          <p:cNvPr id="7" name="Image 1" descr="preencoded.png"/>
          <p:cNvPicPr>
            <a:picLocks noChangeAspect="1"/>
          </p:cNvPicPr>
          <p:nvPr/>
        </p:nvPicPr>
        <p:blipFill>
          <a:blip r:embed="rId4"/>
          <a:stretch>
            <a:fillRect/>
          </a:stretch>
        </p:blipFill>
        <p:spPr>
          <a:xfrm>
            <a:off x="292894" y="1003697"/>
            <a:ext cx="162520" cy="185738"/>
          </a:xfrm>
          <a:prstGeom prst="rect">
            <a:avLst/>
          </a:prstGeom>
        </p:spPr>
      </p:pic>
      <p:sp>
        <p:nvSpPr>
          <p:cNvPr id="8" name="Text 4"/>
          <p:cNvSpPr/>
          <p:nvPr/>
        </p:nvSpPr>
        <p:spPr>
          <a:xfrm>
            <a:off x="562570" y="978694"/>
            <a:ext cx="1055489" cy="235744"/>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0D6EFD"/>
                </a:solidFill>
                <a:latin typeface="Space Grotesk" pitchFamily="34" charset="0"/>
                <a:ea typeface="Space Grotesk" pitchFamily="34" charset="-122"/>
                <a:cs typeface="Space Grotesk" pitchFamily="34" charset="-120"/>
              </a:rPr>
              <a:t>C'est quoi ?</a:t>
            </a:r>
            <a:endParaRPr lang="en-US" sz="1295" dirty="0"/>
          </a:p>
        </p:txBody>
      </p:sp>
      <p:sp>
        <p:nvSpPr>
          <p:cNvPr id="9" name="Text 5"/>
          <p:cNvSpPr/>
          <p:nvPr/>
        </p:nvSpPr>
        <p:spPr>
          <a:xfrm>
            <a:off x="292894" y="1357313"/>
            <a:ext cx="3642643" cy="858184"/>
          </a:xfrm>
          <a:prstGeom prst="rect">
            <a:avLst/>
          </a:prstGeom>
          <a:noFill/>
          <a:ln/>
        </p:spPr>
        <p:txBody>
          <a:bodyPr wrap="square" lIns="0" tIns="0" rIns="0" bIns="0" rtlCol="0" anchor="t">
            <a:spAutoFit/>
          </a:bodyPr>
          <a:lstStyle/>
          <a:p>
            <a:pPr>
              <a:lnSpc>
                <a:spcPts val="1700"/>
              </a:lnSpc>
            </a:pPr>
            <a:r>
              <a:rPr lang="fr-FR" sz="1200" dirty="0">
                <a:solidFill>
                  <a:srgbClr val="495057"/>
                </a:solidFill>
                <a:latin typeface="Inter" pitchFamily="34" charset="0"/>
                <a:ea typeface="Inter" pitchFamily="34" charset="-122"/>
                <a:cs typeface="Inter" pitchFamily="34" charset="-120"/>
              </a:rPr>
              <a:t>DBT transforme la donnée brute (ingrédients) en données prêtes à être consommées (plats) via SQL. Il assure que les données sont propres, testées et organisées pour tous les analystes.</a:t>
            </a:r>
            <a:endParaRPr lang="en-US" sz="1200" dirty="0"/>
          </a:p>
        </p:txBody>
      </p:sp>
      <p:pic>
        <p:nvPicPr>
          <p:cNvPr id="10" name="Image 2" descr="preencoded.png"/>
          <p:cNvPicPr>
            <a:picLocks noChangeAspect="1"/>
          </p:cNvPicPr>
          <p:nvPr/>
        </p:nvPicPr>
        <p:blipFill>
          <a:blip r:embed="rId5"/>
          <a:stretch>
            <a:fillRect/>
          </a:stretch>
        </p:blipFill>
        <p:spPr>
          <a:xfrm>
            <a:off x="292894" y="2571750"/>
            <a:ext cx="185738" cy="185738"/>
          </a:xfrm>
          <a:prstGeom prst="rect">
            <a:avLst/>
          </a:prstGeom>
        </p:spPr>
      </p:pic>
      <p:sp>
        <p:nvSpPr>
          <p:cNvPr id="11" name="Text 6"/>
          <p:cNvSpPr/>
          <p:nvPr/>
        </p:nvSpPr>
        <p:spPr>
          <a:xfrm>
            <a:off x="585788" y="2561535"/>
            <a:ext cx="1384102" cy="235744"/>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0D6EFD"/>
                </a:solidFill>
                <a:latin typeface="Space Grotesk" pitchFamily="34" charset="0"/>
                <a:ea typeface="Space Grotesk" pitchFamily="34" charset="-122"/>
                <a:cs typeface="Space Grotesk" pitchFamily="34" charset="-120"/>
              </a:rPr>
              <a:t>À quoi ça sert ?</a:t>
            </a:r>
            <a:endParaRPr lang="en-US" sz="1295" dirty="0"/>
          </a:p>
        </p:txBody>
      </p:sp>
      <p:sp>
        <p:nvSpPr>
          <p:cNvPr id="12" name="Text 7"/>
          <p:cNvSpPr/>
          <p:nvPr/>
        </p:nvSpPr>
        <p:spPr>
          <a:xfrm>
            <a:off x="292894" y="2922295"/>
            <a:ext cx="3642643" cy="1071062"/>
          </a:xfrm>
          <a:prstGeom prst="rect">
            <a:avLst/>
          </a:prstGeom>
          <a:noFill/>
          <a:ln/>
        </p:spPr>
        <p:txBody>
          <a:bodyPr wrap="square" lIns="0" tIns="0" rIns="0" bIns="0" rtlCol="0" anchor="t">
            <a:spAutoFit/>
          </a:bodyPr>
          <a:lstStyle/>
          <a:p>
            <a:pPr marL="0" indent="0" algn="l">
              <a:lnSpc>
                <a:spcPts val="1700"/>
              </a:lnSpc>
              <a:buNone/>
            </a:pPr>
            <a:r>
              <a:rPr lang="en-US" sz="1200" dirty="0">
                <a:solidFill>
                  <a:srgbClr val="495057"/>
                </a:solidFill>
                <a:latin typeface="Inter" pitchFamily="34" charset="0"/>
                <a:ea typeface="Inter" pitchFamily="34" charset="-122"/>
                <a:cs typeface="Inter" pitchFamily="34" charset="-120"/>
              </a:rPr>
              <a:t>À s'assurer que les données sont propres, testées et bien organisées pour tout le monde.</a:t>
            </a:r>
          </a:p>
          <a:p>
            <a:pPr>
              <a:lnSpc>
                <a:spcPts val="1700"/>
              </a:lnSpc>
            </a:pPr>
            <a:r>
              <a:rPr lang="fr-FR" sz="1200" dirty="0"/>
              <a:t>Sert à </a:t>
            </a:r>
            <a:r>
              <a:rPr lang="fr-FR" sz="1200" b="1" dirty="0"/>
              <a:t>transformer, nettoyer et organiser les données dans un data </a:t>
            </a:r>
            <a:r>
              <a:rPr lang="fr-FR" sz="1200" b="1" dirty="0" err="1"/>
              <a:t>warehouse</a:t>
            </a:r>
            <a:r>
              <a:rPr lang="fr-FR" sz="1200" dirty="0"/>
              <a:t>.</a:t>
            </a:r>
            <a:endParaRPr lang="en-US" sz="1200" dirty="0">
              <a:solidFill>
                <a:srgbClr val="495057"/>
              </a:solidFill>
              <a:latin typeface="Inter" pitchFamily="34" charset="0"/>
              <a:ea typeface="Inter" pitchFamily="34" charset="-122"/>
              <a:cs typeface="Inter" pitchFamily="34" charset="-120"/>
            </a:endParaRPr>
          </a:p>
          <a:p>
            <a:pPr marL="0" indent="0" algn="l">
              <a:lnSpc>
                <a:spcPts val="1700"/>
              </a:lnSpc>
              <a:buNone/>
            </a:pPr>
            <a:endParaRPr lang="en-US" sz="1050" dirty="0"/>
          </a:p>
        </p:txBody>
      </p:sp>
      <p:sp>
        <p:nvSpPr>
          <p:cNvPr id="13" name="Text 8"/>
          <p:cNvSpPr/>
          <p:nvPr/>
        </p:nvSpPr>
        <p:spPr>
          <a:xfrm>
            <a:off x="292894" y="3136106"/>
            <a:ext cx="128818" cy="132344"/>
          </a:xfrm>
          <a:prstGeom prst="rect">
            <a:avLst/>
          </a:prstGeom>
          <a:noFill/>
          <a:ln/>
        </p:spPr>
        <p:txBody>
          <a:bodyPr wrap="none" lIns="127508" tIns="0" rIns="0" bIns="0" rtlCol="0" anchor="t">
            <a:spAutoFit/>
          </a:bodyPr>
          <a:lstStyle/>
          <a:p>
            <a:pPr marL="0" indent="0" algn="l">
              <a:lnSpc>
                <a:spcPts val="1100"/>
              </a:lnSpc>
              <a:buNone/>
            </a:pPr>
            <a:endParaRPr lang="en-US" sz="784" dirty="0"/>
          </a:p>
        </p:txBody>
      </p:sp>
      <p:sp>
        <p:nvSpPr>
          <p:cNvPr id="14" name="Shape 9"/>
          <p:cNvSpPr/>
          <p:nvPr/>
        </p:nvSpPr>
        <p:spPr>
          <a:xfrm>
            <a:off x="4156993" y="578644"/>
            <a:ext cx="4979836" cy="3986213"/>
          </a:xfrm>
          <a:prstGeom prst="rect">
            <a:avLst/>
          </a:prstGeom>
          <a:solidFill>
            <a:srgbClr val="FDFDFD"/>
          </a:solidFill>
          <a:ln/>
        </p:spPr>
        <p:txBody>
          <a:bodyPr/>
          <a:lstStyle/>
          <a:p>
            <a:endParaRPr lang="fr-FR"/>
          </a:p>
        </p:txBody>
      </p:sp>
      <p:pic>
        <p:nvPicPr>
          <p:cNvPr id="15" name="Image 3" descr="preencoded.png"/>
          <p:cNvPicPr>
            <a:picLocks noChangeAspect="1"/>
          </p:cNvPicPr>
          <p:nvPr/>
        </p:nvPicPr>
        <p:blipFill>
          <a:blip r:embed="rId6"/>
          <a:stretch>
            <a:fillRect/>
          </a:stretch>
        </p:blipFill>
        <p:spPr>
          <a:xfrm>
            <a:off x="4232922" y="815163"/>
            <a:ext cx="4762222" cy="3388242"/>
          </a:xfrm>
          <a:prstGeom prst="rect">
            <a:avLst/>
          </a:prstGeom>
        </p:spPr>
      </p:pic>
      <p:sp>
        <p:nvSpPr>
          <p:cNvPr id="16" name="Shape 10"/>
          <p:cNvSpPr/>
          <p:nvPr/>
        </p:nvSpPr>
        <p:spPr>
          <a:xfrm>
            <a:off x="7144" y="4564856"/>
            <a:ext cx="9129713" cy="571500"/>
          </a:xfrm>
          <a:prstGeom prst="rect">
            <a:avLst/>
          </a:prstGeom>
          <a:solidFill>
            <a:srgbClr val="212529"/>
          </a:solidFill>
          <a:ln/>
        </p:spPr>
        <p:txBody>
          <a:bodyPr/>
          <a:lstStyle/>
          <a:p>
            <a:endParaRPr lang="fr-FR"/>
          </a:p>
        </p:txBody>
      </p:sp>
      <p:pic>
        <p:nvPicPr>
          <p:cNvPr id="17" name="Image 4" descr="preencoded.png"/>
          <p:cNvPicPr>
            <a:picLocks noChangeAspect="1"/>
          </p:cNvPicPr>
          <p:nvPr/>
        </p:nvPicPr>
        <p:blipFill>
          <a:blip r:embed="rId7"/>
          <a:stretch>
            <a:fillRect/>
          </a:stretch>
        </p:blipFill>
        <p:spPr>
          <a:xfrm>
            <a:off x="221456" y="4786313"/>
            <a:ext cx="128588" cy="128588"/>
          </a:xfrm>
          <a:prstGeom prst="rect">
            <a:avLst/>
          </a:prstGeom>
        </p:spPr>
      </p:pic>
      <p:sp>
        <p:nvSpPr>
          <p:cNvPr id="18" name="Text 11"/>
          <p:cNvSpPr/>
          <p:nvPr/>
        </p:nvSpPr>
        <p:spPr>
          <a:xfrm>
            <a:off x="350044" y="4765774"/>
            <a:ext cx="3993356" cy="169664"/>
          </a:xfrm>
          <a:prstGeom prst="rect">
            <a:avLst/>
          </a:prstGeom>
          <a:noFill/>
          <a:ln/>
        </p:spPr>
        <p:txBody>
          <a:bodyPr wrap="none" lIns="0" tIns="0" rIns="0" bIns="0" rtlCol="0" anchor="t">
            <a:spAutoFit/>
          </a:bodyPr>
          <a:lstStyle/>
          <a:p>
            <a:pPr marL="0" indent="0" algn="l">
              <a:lnSpc>
                <a:spcPts val="1200"/>
              </a:lnSpc>
              <a:buNone/>
            </a:pPr>
            <a:r>
              <a:rPr lang="en-US" sz="942" dirty="0">
                <a:solidFill>
                  <a:srgbClr val="20C997"/>
                </a:solidFill>
                <a:latin typeface="JetBrains Mono" pitchFamily="34" charset="0"/>
                <a:ea typeface="JetBrains Mono" pitchFamily="34" charset="-122"/>
                <a:cs typeface="JetBrains Mono" pitchFamily="34" charset="-120"/>
              </a:rPr>
              <a:t>Outil de transformation de données (Data Build Tool)</a:t>
            </a:r>
            <a:endParaRPr lang="en-US" sz="942"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7144" y="7144"/>
            <a:ext cx="9129713" cy="571500"/>
          </a:xfrm>
          <a:prstGeom prst="rect">
            <a:avLst/>
          </a:prstGeom>
          <a:solidFill>
            <a:srgbClr val="FFFFFF"/>
          </a:solidFill>
          <a:ln/>
        </p:spPr>
        <p:txBody>
          <a:bodyPr/>
          <a:lstStyle/>
          <a:p>
            <a:endParaRPr lang="fr-FR"/>
          </a:p>
        </p:txBody>
      </p:sp>
      <p:sp>
        <p:nvSpPr>
          <p:cNvPr id="4" name="Shape 1"/>
          <p:cNvSpPr/>
          <p:nvPr/>
        </p:nvSpPr>
        <p:spPr>
          <a:xfrm>
            <a:off x="7144" y="564356"/>
            <a:ext cx="9129713" cy="14288"/>
          </a:xfrm>
          <a:prstGeom prst="rect">
            <a:avLst/>
          </a:prstGeom>
          <a:solidFill>
            <a:srgbClr val="20C997"/>
          </a:solidFill>
          <a:ln/>
        </p:spPr>
        <p:txBody>
          <a:bodyPr/>
          <a:lstStyle/>
          <a:p>
            <a:endParaRPr lang="fr-FR"/>
          </a:p>
        </p:txBody>
      </p:sp>
      <p:sp>
        <p:nvSpPr>
          <p:cNvPr id="5" name="Text 2"/>
          <p:cNvSpPr/>
          <p:nvPr/>
        </p:nvSpPr>
        <p:spPr>
          <a:xfrm>
            <a:off x="292894" y="141982"/>
            <a:ext cx="5500688" cy="30182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212529"/>
                </a:solidFill>
                <a:latin typeface="JetBrains Mono" pitchFamily="34" charset="0"/>
                <a:ea typeface="JetBrains Mono" pitchFamily="34" charset="-122"/>
                <a:cs typeface="JetBrains Mono" pitchFamily="34" charset="-120"/>
              </a:rPr>
              <a:t>GRAFANA : LE TABLEAU DE BORD DE CONTRÔLE</a:t>
            </a:r>
            <a:endParaRPr lang="en-US" sz="1602" dirty="0"/>
          </a:p>
        </p:txBody>
      </p:sp>
      <p:sp>
        <p:nvSpPr>
          <p:cNvPr id="6" name="Shape 3"/>
          <p:cNvSpPr/>
          <p:nvPr/>
        </p:nvSpPr>
        <p:spPr>
          <a:xfrm>
            <a:off x="7144" y="578644"/>
            <a:ext cx="9129713" cy="3986213"/>
          </a:xfrm>
          <a:prstGeom prst="rect">
            <a:avLst/>
          </a:prstGeom>
          <a:solidFill>
            <a:srgbClr val="FFFFFF"/>
          </a:solidFill>
          <a:ln/>
        </p:spPr>
        <p:txBody>
          <a:bodyPr/>
          <a:lstStyle/>
          <a:p>
            <a:endParaRPr lang="fr-FR" dirty="0"/>
          </a:p>
        </p:txBody>
      </p:sp>
      <p:sp>
        <p:nvSpPr>
          <p:cNvPr id="7" name="Shape 4"/>
          <p:cNvSpPr/>
          <p:nvPr/>
        </p:nvSpPr>
        <p:spPr>
          <a:xfrm>
            <a:off x="7144" y="578644"/>
            <a:ext cx="4979836" cy="3986213"/>
          </a:xfrm>
          <a:prstGeom prst="rect">
            <a:avLst/>
          </a:prstGeom>
          <a:solidFill>
            <a:srgbClr val="FDFDFD"/>
          </a:solidFill>
          <a:ln/>
        </p:spPr>
        <p:txBody>
          <a:bodyPr/>
          <a:lstStyle/>
          <a:p>
            <a:endParaRPr lang="fr-FR"/>
          </a:p>
        </p:txBody>
      </p:sp>
      <p:sp>
        <p:nvSpPr>
          <p:cNvPr id="8" name="Shape 5"/>
          <p:cNvSpPr/>
          <p:nvPr/>
        </p:nvSpPr>
        <p:spPr>
          <a:xfrm>
            <a:off x="4979836" y="578644"/>
            <a:ext cx="7144" cy="3986213"/>
          </a:xfrm>
          <a:prstGeom prst="rect">
            <a:avLst/>
          </a:prstGeom>
          <a:solidFill>
            <a:srgbClr val="DEE2E6"/>
          </a:solidFill>
          <a:ln/>
        </p:spPr>
        <p:txBody>
          <a:bodyPr/>
          <a:lstStyle/>
          <a:p>
            <a:endParaRPr lang="fr-FR"/>
          </a:p>
        </p:txBody>
      </p:sp>
      <p:pic>
        <p:nvPicPr>
          <p:cNvPr id="9" name="Image 1" descr="preencoded.png"/>
          <p:cNvPicPr>
            <a:picLocks noChangeAspect="1"/>
          </p:cNvPicPr>
          <p:nvPr/>
        </p:nvPicPr>
        <p:blipFill>
          <a:blip r:embed="rId4"/>
          <a:stretch>
            <a:fillRect/>
          </a:stretch>
        </p:blipFill>
        <p:spPr>
          <a:xfrm>
            <a:off x="76014" y="931367"/>
            <a:ext cx="4803337" cy="3207544"/>
          </a:xfrm>
          <a:prstGeom prst="rect">
            <a:avLst/>
          </a:prstGeom>
        </p:spPr>
      </p:pic>
      <p:pic>
        <p:nvPicPr>
          <p:cNvPr id="10" name="Image 2" descr="preencoded.png"/>
          <p:cNvPicPr>
            <a:picLocks noChangeAspect="1"/>
          </p:cNvPicPr>
          <p:nvPr/>
        </p:nvPicPr>
        <p:blipFill>
          <a:blip r:embed="rId5"/>
          <a:stretch>
            <a:fillRect/>
          </a:stretch>
        </p:blipFill>
        <p:spPr>
          <a:xfrm>
            <a:off x="5272729" y="1003697"/>
            <a:ext cx="208955" cy="185738"/>
          </a:xfrm>
          <a:prstGeom prst="rect">
            <a:avLst/>
          </a:prstGeom>
        </p:spPr>
      </p:pic>
      <p:sp>
        <p:nvSpPr>
          <p:cNvPr id="11" name="Text 6"/>
          <p:cNvSpPr/>
          <p:nvPr/>
        </p:nvSpPr>
        <p:spPr>
          <a:xfrm>
            <a:off x="5588840" y="978694"/>
            <a:ext cx="1055489" cy="235744"/>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20C997"/>
                </a:solidFill>
                <a:latin typeface="Space Grotesk" pitchFamily="34" charset="0"/>
                <a:ea typeface="Space Grotesk" pitchFamily="34" charset="-122"/>
                <a:cs typeface="Space Grotesk" pitchFamily="34" charset="-120"/>
              </a:rPr>
              <a:t>C'est quoi ?</a:t>
            </a:r>
            <a:endParaRPr lang="en-US" sz="1295" dirty="0"/>
          </a:p>
        </p:txBody>
      </p:sp>
      <p:sp>
        <p:nvSpPr>
          <p:cNvPr id="12" name="Text 7"/>
          <p:cNvSpPr/>
          <p:nvPr/>
        </p:nvSpPr>
        <p:spPr>
          <a:xfrm>
            <a:off x="5272729" y="1357313"/>
            <a:ext cx="3649787" cy="853054"/>
          </a:xfrm>
          <a:prstGeom prst="rect">
            <a:avLst/>
          </a:prstGeom>
          <a:noFill/>
          <a:ln/>
        </p:spPr>
        <p:txBody>
          <a:bodyPr wrap="square" lIns="0" tIns="0" rIns="0" bIns="0" rtlCol="0" anchor="t">
            <a:spAutoFit/>
          </a:bodyPr>
          <a:lstStyle/>
          <a:p>
            <a:pPr>
              <a:lnSpc>
                <a:spcPts val="1700"/>
              </a:lnSpc>
            </a:pPr>
            <a:r>
              <a:rPr lang="fr-FR" sz="1200" dirty="0" err="1">
                <a:solidFill>
                  <a:srgbClr val="495057"/>
                </a:solidFill>
                <a:latin typeface="Inter" pitchFamily="34" charset="0"/>
                <a:ea typeface="Inter" pitchFamily="34" charset="-122"/>
                <a:cs typeface="Inter" pitchFamily="34" charset="-120"/>
              </a:rPr>
              <a:t>Grafana</a:t>
            </a:r>
            <a:r>
              <a:rPr lang="fr-FR" sz="1200" dirty="0">
                <a:solidFill>
                  <a:srgbClr val="495057"/>
                </a:solidFill>
                <a:latin typeface="Inter" pitchFamily="34" charset="0"/>
                <a:ea typeface="Inter" pitchFamily="34" charset="-122"/>
                <a:cs typeface="Inter" pitchFamily="34" charset="-120"/>
              </a:rPr>
              <a:t> est comme le tableau de bord d'un avion, montrant ce qui se passe en temps réel. Il permet de surveiller la santé des systèmes, serveurs ou objets connectés pour une action immédiate.</a:t>
            </a:r>
            <a:endParaRPr lang="en-US" sz="1200" dirty="0"/>
          </a:p>
        </p:txBody>
      </p:sp>
      <p:pic>
        <p:nvPicPr>
          <p:cNvPr id="13" name="Image 3" descr="preencoded.png"/>
          <p:cNvPicPr>
            <a:picLocks noChangeAspect="1"/>
          </p:cNvPicPr>
          <p:nvPr/>
        </p:nvPicPr>
        <p:blipFill>
          <a:blip r:embed="rId6"/>
          <a:stretch>
            <a:fillRect/>
          </a:stretch>
        </p:blipFill>
        <p:spPr>
          <a:xfrm>
            <a:off x="5272729" y="2535139"/>
            <a:ext cx="208955" cy="185738"/>
          </a:xfrm>
          <a:prstGeom prst="rect">
            <a:avLst/>
          </a:prstGeom>
        </p:spPr>
      </p:pic>
      <p:sp>
        <p:nvSpPr>
          <p:cNvPr id="14" name="Text 8"/>
          <p:cNvSpPr/>
          <p:nvPr/>
        </p:nvSpPr>
        <p:spPr>
          <a:xfrm>
            <a:off x="5588840" y="2509822"/>
            <a:ext cx="1384102" cy="235744"/>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20C997"/>
                </a:solidFill>
                <a:latin typeface="Space Grotesk" pitchFamily="34" charset="0"/>
                <a:ea typeface="Space Grotesk" pitchFamily="34" charset="-122"/>
                <a:cs typeface="Space Grotesk" pitchFamily="34" charset="-120"/>
              </a:rPr>
              <a:t>À quoi ça sert ?</a:t>
            </a:r>
            <a:endParaRPr lang="en-US" sz="1295" dirty="0"/>
          </a:p>
        </p:txBody>
      </p:sp>
      <p:sp>
        <p:nvSpPr>
          <p:cNvPr id="15" name="Text 9"/>
          <p:cNvSpPr/>
          <p:nvPr/>
        </p:nvSpPr>
        <p:spPr>
          <a:xfrm>
            <a:off x="5249073" y="2839825"/>
            <a:ext cx="3649787" cy="853054"/>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495057"/>
                </a:solidFill>
                <a:latin typeface="Inter" pitchFamily="34" charset="0"/>
                <a:ea typeface="Inter"/>
                <a:cs typeface="Inter" pitchFamily="34" charset="-120"/>
              </a:rPr>
              <a:t>À surveiller en temps réel la santé de vos systèmes, serveurs ou objets </a:t>
            </a:r>
            <a:r>
              <a:rPr lang="en-US" sz="1050" dirty="0" err="1">
                <a:solidFill>
                  <a:srgbClr val="495057"/>
                </a:solidFill>
                <a:latin typeface="Inter" pitchFamily="34" charset="0"/>
                <a:ea typeface="Inter"/>
                <a:cs typeface="Inter" pitchFamily="34" charset="-120"/>
              </a:rPr>
              <a:t>connectés</a:t>
            </a:r>
            <a:r>
              <a:rPr lang="en-US" sz="1050" dirty="0">
                <a:solidFill>
                  <a:srgbClr val="495057"/>
                </a:solidFill>
                <a:latin typeface="Inter" pitchFamily="34" charset="0"/>
                <a:ea typeface="Inter"/>
                <a:cs typeface="Inter" pitchFamily="34" charset="-120"/>
              </a:rPr>
              <a:t>.</a:t>
            </a:r>
          </a:p>
          <a:p>
            <a:pPr>
              <a:lnSpc>
                <a:spcPts val="1700"/>
              </a:lnSpc>
            </a:pPr>
            <a:r>
              <a:rPr lang="fr-FR" sz="1050" dirty="0">
                <a:ea typeface="Inter"/>
              </a:rPr>
              <a:t>Sert à </a:t>
            </a:r>
            <a:r>
              <a:rPr lang="fr-FR" sz="1050" b="1" dirty="0">
                <a:ea typeface="Inter"/>
              </a:rPr>
              <a:t>surveiller les données en temps réel</a:t>
            </a:r>
            <a:r>
              <a:rPr lang="fr-FR" sz="1050" dirty="0">
                <a:ea typeface="Inter"/>
              </a:rPr>
              <a:t> et afficher des indicateurs de performance.</a:t>
            </a:r>
            <a:endParaRPr lang="en-US" sz="1050" dirty="0">
              <a:ea typeface="Inter"/>
            </a:endParaRPr>
          </a:p>
        </p:txBody>
      </p:sp>
      <p:sp>
        <p:nvSpPr>
          <p:cNvPr id="16" name="Text 10"/>
          <p:cNvSpPr/>
          <p:nvPr/>
        </p:nvSpPr>
        <p:spPr>
          <a:xfrm>
            <a:off x="5272729" y="2921794"/>
            <a:ext cx="128818" cy="132344"/>
          </a:xfrm>
          <a:prstGeom prst="rect">
            <a:avLst/>
          </a:prstGeom>
          <a:noFill/>
          <a:ln/>
        </p:spPr>
        <p:txBody>
          <a:bodyPr wrap="none" lIns="127508" tIns="0" rIns="0" bIns="0" rtlCol="0" anchor="t">
            <a:spAutoFit/>
          </a:bodyPr>
          <a:lstStyle/>
          <a:p>
            <a:pPr marL="0" indent="0" algn="l">
              <a:lnSpc>
                <a:spcPts val="1100"/>
              </a:lnSpc>
              <a:buNone/>
            </a:pPr>
            <a:endParaRPr lang="en-US" sz="784" dirty="0"/>
          </a:p>
        </p:txBody>
      </p:sp>
      <p:sp>
        <p:nvSpPr>
          <p:cNvPr id="17" name="Shape 11"/>
          <p:cNvSpPr/>
          <p:nvPr/>
        </p:nvSpPr>
        <p:spPr>
          <a:xfrm>
            <a:off x="7144" y="4564856"/>
            <a:ext cx="9129713" cy="571500"/>
          </a:xfrm>
          <a:prstGeom prst="rect">
            <a:avLst/>
          </a:prstGeom>
          <a:solidFill>
            <a:srgbClr val="212529"/>
          </a:solidFill>
          <a:ln/>
        </p:spPr>
        <p:txBody>
          <a:bodyPr/>
          <a:lstStyle/>
          <a:p>
            <a:endParaRPr lang="fr-FR"/>
          </a:p>
        </p:txBody>
      </p:sp>
      <p:pic>
        <p:nvPicPr>
          <p:cNvPr id="18" name="Image 4" descr="preencoded.png"/>
          <p:cNvPicPr>
            <a:picLocks noChangeAspect="1"/>
          </p:cNvPicPr>
          <p:nvPr/>
        </p:nvPicPr>
        <p:blipFill>
          <a:blip r:embed="rId7"/>
          <a:stretch>
            <a:fillRect/>
          </a:stretch>
        </p:blipFill>
        <p:spPr>
          <a:xfrm>
            <a:off x="221456" y="4786313"/>
            <a:ext cx="128588" cy="128588"/>
          </a:xfrm>
          <a:prstGeom prst="rect">
            <a:avLst/>
          </a:prstGeom>
        </p:spPr>
      </p:pic>
      <p:sp>
        <p:nvSpPr>
          <p:cNvPr id="19" name="Text 12"/>
          <p:cNvSpPr/>
          <p:nvPr/>
        </p:nvSpPr>
        <p:spPr>
          <a:xfrm>
            <a:off x="350044" y="4765774"/>
            <a:ext cx="4223742" cy="169664"/>
          </a:xfrm>
          <a:prstGeom prst="rect">
            <a:avLst/>
          </a:prstGeom>
          <a:noFill/>
          <a:ln/>
        </p:spPr>
        <p:txBody>
          <a:bodyPr wrap="none" lIns="0" tIns="0" rIns="0" bIns="0" rtlCol="0" anchor="t">
            <a:spAutoFit/>
          </a:bodyPr>
          <a:lstStyle/>
          <a:p>
            <a:pPr marL="0" indent="0" algn="l">
              <a:lnSpc>
                <a:spcPts val="1200"/>
              </a:lnSpc>
              <a:buNone/>
            </a:pPr>
            <a:r>
              <a:rPr lang="en-US" sz="942" dirty="0">
                <a:solidFill>
                  <a:srgbClr val="0D6EFD"/>
                </a:solidFill>
                <a:latin typeface="JetBrains Mono" pitchFamily="34" charset="0"/>
                <a:ea typeface="JetBrains Mono" pitchFamily="34" charset="-122"/>
                <a:cs typeface="JetBrains Mono" pitchFamily="34" charset="-120"/>
              </a:rPr>
              <a:t>Plateforme de monitoring et de visualisation temps réel</a:t>
            </a:r>
            <a:endParaRPr lang="en-US" sz="942"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C43A3-9F9B-5080-21C3-19BFE4EEA70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E173F5A-67F2-FD71-7FC1-0C62A1060EBC}"/>
              </a:ext>
            </a:extLst>
          </p:cNvPr>
          <p:cNvPicPr>
            <a:picLocks noChangeAspect="1"/>
          </p:cNvPicPr>
          <p:nvPr/>
        </p:nvPicPr>
        <p:blipFill>
          <a:blip r:embed="rId3"/>
          <a:stretch>
            <a:fillRect/>
          </a:stretch>
        </p:blipFill>
        <p:spPr>
          <a:xfrm>
            <a:off x="0" y="0"/>
            <a:ext cx="9144000" cy="5143500"/>
          </a:xfrm>
          <a:prstGeom prst="rect">
            <a:avLst/>
          </a:prstGeom>
        </p:spPr>
      </p:pic>
      <p:sp>
        <p:nvSpPr>
          <p:cNvPr id="3" name="Shape 0">
            <a:extLst>
              <a:ext uri="{FF2B5EF4-FFF2-40B4-BE49-F238E27FC236}">
                <a16:creationId xmlns:a16="http://schemas.microsoft.com/office/drawing/2014/main" id="{8EBE8A4B-32B9-916D-7A77-2CE797E491DF}"/>
              </a:ext>
            </a:extLst>
          </p:cNvPr>
          <p:cNvSpPr/>
          <p:nvPr/>
        </p:nvSpPr>
        <p:spPr>
          <a:xfrm>
            <a:off x="7144" y="7144"/>
            <a:ext cx="9129713" cy="571500"/>
          </a:xfrm>
          <a:prstGeom prst="rect">
            <a:avLst/>
          </a:prstGeom>
          <a:solidFill>
            <a:srgbClr val="FFFFFF"/>
          </a:solidFill>
          <a:ln/>
        </p:spPr>
        <p:txBody>
          <a:bodyPr/>
          <a:lstStyle/>
          <a:p>
            <a:endParaRPr lang="fr-FR"/>
          </a:p>
        </p:txBody>
      </p:sp>
      <p:sp>
        <p:nvSpPr>
          <p:cNvPr id="4" name="Shape 1">
            <a:extLst>
              <a:ext uri="{FF2B5EF4-FFF2-40B4-BE49-F238E27FC236}">
                <a16:creationId xmlns:a16="http://schemas.microsoft.com/office/drawing/2014/main" id="{C0C487E6-DD9C-688A-5050-835B43B8A5EB}"/>
              </a:ext>
            </a:extLst>
          </p:cNvPr>
          <p:cNvSpPr/>
          <p:nvPr/>
        </p:nvSpPr>
        <p:spPr>
          <a:xfrm>
            <a:off x="7144" y="564356"/>
            <a:ext cx="9129713" cy="14288"/>
          </a:xfrm>
          <a:prstGeom prst="rect">
            <a:avLst/>
          </a:prstGeom>
          <a:solidFill>
            <a:srgbClr val="20C997"/>
          </a:solidFill>
          <a:ln/>
        </p:spPr>
        <p:txBody>
          <a:bodyPr/>
          <a:lstStyle/>
          <a:p>
            <a:endParaRPr lang="fr-FR"/>
          </a:p>
        </p:txBody>
      </p:sp>
      <p:sp>
        <p:nvSpPr>
          <p:cNvPr id="5" name="Text 2">
            <a:extLst>
              <a:ext uri="{FF2B5EF4-FFF2-40B4-BE49-F238E27FC236}">
                <a16:creationId xmlns:a16="http://schemas.microsoft.com/office/drawing/2014/main" id="{DC669590-9F18-3A2F-3812-B343D28B93C3}"/>
              </a:ext>
            </a:extLst>
          </p:cNvPr>
          <p:cNvSpPr/>
          <p:nvPr/>
        </p:nvSpPr>
        <p:spPr>
          <a:xfrm>
            <a:off x="292894" y="141982"/>
            <a:ext cx="5314725" cy="265714"/>
          </a:xfrm>
          <a:prstGeom prst="rect">
            <a:avLst/>
          </a:prstGeom>
          <a:noFill/>
          <a:ln/>
        </p:spPr>
        <p:txBody>
          <a:bodyPr wrap="none" lIns="0" tIns="0" rIns="0" bIns="0" rtlCol="0" anchor="t">
            <a:spAutoFit/>
          </a:bodyPr>
          <a:lstStyle/>
          <a:p>
            <a:pPr>
              <a:lnSpc>
                <a:spcPts val="2200"/>
              </a:lnSpc>
            </a:pPr>
            <a:r>
              <a:rPr lang="fr-FR" sz="1600" b="1" dirty="0">
                <a:latin typeface="JetBrains Mono"/>
              </a:rPr>
              <a:t>Looker Studio : Le tableau de bord de visualisation de données</a:t>
            </a:r>
            <a:endParaRPr lang="en-US" sz="1600" b="1" dirty="0">
              <a:latin typeface="JetBrains Mono"/>
            </a:endParaRPr>
          </a:p>
        </p:txBody>
      </p:sp>
      <p:sp>
        <p:nvSpPr>
          <p:cNvPr id="6" name="Shape 3">
            <a:extLst>
              <a:ext uri="{FF2B5EF4-FFF2-40B4-BE49-F238E27FC236}">
                <a16:creationId xmlns:a16="http://schemas.microsoft.com/office/drawing/2014/main" id="{6124CEDB-7F97-A4EB-54EB-97501E101339}"/>
              </a:ext>
            </a:extLst>
          </p:cNvPr>
          <p:cNvSpPr/>
          <p:nvPr/>
        </p:nvSpPr>
        <p:spPr>
          <a:xfrm>
            <a:off x="7144" y="578644"/>
            <a:ext cx="9129713" cy="3986213"/>
          </a:xfrm>
          <a:prstGeom prst="rect">
            <a:avLst/>
          </a:prstGeom>
          <a:solidFill>
            <a:srgbClr val="FFFFFF"/>
          </a:solidFill>
          <a:ln/>
        </p:spPr>
        <p:txBody>
          <a:bodyPr/>
          <a:lstStyle/>
          <a:p>
            <a:endParaRPr lang="fr-FR"/>
          </a:p>
        </p:txBody>
      </p:sp>
      <p:sp>
        <p:nvSpPr>
          <p:cNvPr id="7" name="Shape 4">
            <a:extLst>
              <a:ext uri="{FF2B5EF4-FFF2-40B4-BE49-F238E27FC236}">
                <a16:creationId xmlns:a16="http://schemas.microsoft.com/office/drawing/2014/main" id="{36450EF1-8715-CFAF-ECFF-09DF9B829648}"/>
              </a:ext>
            </a:extLst>
          </p:cNvPr>
          <p:cNvSpPr/>
          <p:nvPr/>
        </p:nvSpPr>
        <p:spPr>
          <a:xfrm>
            <a:off x="7144" y="578644"/>
            <a:ext cx="4979836" cy="3986213"/>
          </a:xfrm>
          <a:prstGeom prst="rect">
            <a:avLst/>
          </a:prstGeom>
          <a:solidFill>
            <a:srgbClr val="FDFDFD"/>
          </a:solidFill>
          <a:ln/>
        </p:spPr>
        <p:txBody>
          <a:bodyPr/>
          <a:lstStyle/>
          <a:p>
            <a:endParaRPr lang="fr-FR"/>
          </a:p>
        </p:txBody>
      </p:sp>
      <p:sp>
        <p:nvSpPr>
          <p:cNvPr id="8" name="Shape 5">
            <a:extLst>
              <a:ext uri="{FF2B5EF4-FFF2-40B4-BE49-F238E27FC236}">
                <a16:creationId xmlns:a16="http://schemas.microsoft.com/office/drawing/2014/main" id="{4F9F3042-FDC3-B2F2-FE8C-C1A214BC9EAF}"/>
              </a:ext>
            </a:extLst>
          </p:cNvPr>
          <p:cNvSpPr/>
          <p:nvPr/>
        </p:nvSpPr>
        <p:spPr>
          <a:xfrm>
            <a:off x="4979836" y="578644"/>
            <a:ext cx="7144" cy="3986213"/>
          </a:xfrm>
          <a:prstGeom prst="rect">
            <a:avLst/>
          </a:prstGeom>
          <a:solidFill>
            <a:srgbClr val="DEE2E6"/>
          </a:solidFill>
          <a:ln/>
        </p:spPr>
        <p:txBody>
          <a:bodyPr/>
          <a:lstStyle/>
          <a:p>
            <a:endParaRPr lang="fr-FR"/>
          </a:p>
        </p:txBody>
      </p:sp>
      <p:pic>
        <p:nvPicPr>
          <p:cNvPr id="10" name="Image 2" descr="preencoded.png">
            <a:extLst>
              <a:ext uri="{FF2B5EF4-FFF2-40B4-BE49-F238E27FC236}">
                <a16:creationId xmlns:a16="http://schemas.microsoft.com/office/drawing/2014/main" id="{35DC56BB-CE39-FFAC-AD95-54B63EDC6D51}"/>
              </a:ext>
            </a:extLst>
          </p:cNvPr>
          <p:cNvPicPr>
            <a:picLocks noChangeAspect="1"/>
          </p:cNvPicPr>
          <p:nvPr/>
        </p:nvPicPr>
        <p:blipFill>
          <a:blip r:embed="rId4"/>
          <a:stretch>
            <a:fillRect/>
          </a:stretch>
        </p:blipFill>
        <p:spPr>
          <a:xfrm>
            <a:off x="5272729" y="1003697"/>
            <a:ext cx="208955" cy="185738"/>
          </a:xfrm>
          <a:prstGeom prst="rect">
            <a:avLst/>
          </a:prstGeom>
        </p:spPr>
      </p:pic>
      <p:sp>
        <p:nvSpPr>
          <p:cNvPr id="11" name="Text 6">
            <a:extLst>
              <a:ext uri="{FF2B5EF4-FFF2-40B4-BE49-F238E27FC236}">
                <a16:creationId xmlns:a16="http://schemas.microsoft.com/office/drawing/2014/main" id="{EB812A61-52E6-AEAB-84FC-74F920F43811}"/>
              </a:ext>
            </a:extLst>
          </p:cNvPr>
          <p:cNvSpPr/>
          <p:nvPr/>
        </p:nvSpPr>
        <p:spPr>
          <a:xfrm>
            <a:off x="5588840" y="978694"/>
            <a:ext cx="1055489" cy="235744"/>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20C997"/>
                </a:solidFill>
                <a:latin typeface="Space Grotesk" pitchFamily="34" charset="0"/>
                <a:ea typeface="Space Grotesk" pitchFamily="34" charset="-122"/>
                <a:cs typeface="Space Grotesk" pitchFamily="34" charset="-120"/>
              </a:rPr>
              <a:t>C'est quoi ?</a:t>
            </a:r>
            <a:endParaRPr lang="en-US" sz="1295" dirty="0"/>
          </a:p>
        </p:txBody>
      </p:sp>
      <p:sp>
        <p:nvSpPr>
          <p:cNvPr id="12" name="Text 7">
            <a:extLst>
              <a:ext uri="{FF2B5EF4-FFF2-40B4-BE49-F238E27FC236}">
                <a16:creationId xmlns:a16="http://schemas.microsoft.com/office/drawing/2014/main" id="{DB466F93-C1A7-AD9D-97C2-A7437A9BCB78}"/>
              </a:ext>
            </a:extLst>
          </p:cNvPr>
          <p:cNvSpPr/>
          <p:nvPr/>
        </p:nvSpPr>
        <p:spPr>
          <a:xfrm>
            <a:off x="5272729" y="1357313"/>
            <a:ext cx="3649787" cy="858184"/>
          </a:xfrm>
          <a:prstGeom prst="rect">
            <a:avLst/>
          </a:prstGeom>
          <a:noFill/>
          <a:ln/>
        </p:spPr>
        <p:txBody>
          <a:bodyPr wrap="square" lIns="0" tIns="0" rIns="0" bIns="0" rtlCol="0" anchor="t">
            <a:spAutoFit/>
          </a:bodyPr>
          <a:lstStyle/>
          <a:p>
            <a:pPr>
              <a:lnSpc>
                <a:spcPts val="1700"/>
              </a:lnSpc>
            </a:pPr>
            <a:r>
              <a:rPr lang="fr-FR" sz="1200" dirty="0">
                <a:latin typeface="Inter"/>
              </a:rPr>
              <a:t>Looker Studio est comme le tableau de bord d'un avion, montrant ce qui se passe en temps réel. Il permet de surveiller la santé des systèmes, serveurs ou objets connectés pour une action immédiate.</a:t>
            </a:r>
            <a:endParaRPr lang="en-US" sz="1200" dirty="0">
              <a:latin typeface="Inter"/>
            </a:endParaRPr>
          </a:p>
        </p:txBody>
      </p:sp>
      <p:pic>
        <p:nvPicPr>
          <p:cNvPr id="13" name="Image 3" descr="preencoded.png">
            <a:extLst>
              <a:ext uri="{FF2B5EF4-FFF2-40B4-BE49-F238E27FC236}">
                <a16:creationId xmlns:a16="http://schemas.microsoft.com/office/drawing/2014/main" id="{68DE1127-4625-D12C-5A6A-141B9B24E105}"/>
              </a:ext>
            </a:extLst>
          </p:cNvPr>
          <p:cNvPicPr>
            <a:picLocks noChangeAspect="1"/>
          </p:cNvPicPr>
          <p:nvPr/>
        </p:nvPicPr>
        <p:blipFill>
          <a:blip r:embed="rId5"/>
          <a:stretch>
            <a:fillRect/>
          </a:stretch>
        </p:blipFill>
        <p:spPr>
          <a:xfrm>
            <a:off x="5272729" y="2535139"/>
            <a:ext cx="208955" cy="185738"/>
          </a:xfrm>
          <a:prstGeom prst="rect">
            <a:avLst/>
          </a:prstGeom>
        </p:spPr>
      </p:pic>
      <p:sp>
        <p:nvSpPr>
          <p:cNvPr id="14" name="Text 8">
            <a:extLst>
              <a:ext uri="{FF2B5EF4-FFF2-40B4-BE49-F238E27FC236}">
                <a16:creationId xmlns:a16="http://schemas.microsoft.com/office/drawing/2014/main" id="{29F7F574-7815-4658-5E49-DBC3D9CC598D}"/>
              </a:ext>
            </a:extLst>
          </p:cNvPr>
          <p:cNvSpPr/>
          <p:nvPr/>
        </p:nvSpPr>
        <p:spPr>
          <a:xfrm>
            <a:off x="5588840" y="2509822"/>
            <a:ext cx="1384102" cy="235744"/>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20C997"/>
                </a:solidFill>
                <a:latin typeface="Space Grotesk" pitchFamily="34" charset="0"/>
                <a:ea typeface="Space Grotesk" pitchFamily="34" charset="-122"/>
                <a:cs typeface="Space Grotesk" pitchFamily="34" charset="-120"/>
              </a:rPr>
              <a:t>À quoi ça sert ?</a:t>
            </a:r>
            <a:endParaRPr lang="en-US" sz="1295" dirty="0"/>
          </a:p>
        </p:txBody>
      </p:sp>
      <p:sp>
        <p:nvSpPr>
          <p:cNvPr id="15" name="Text 9">
            <a:extLst>
              <a:ext uri="{FF2B5EF4-FFF2-40B4-BE49-F238E27FC236}">
                <a16:creationId xmlns:a16="http://schemas.microsoft.com/office/drawing/2014/main" id="{6D487A19-B7CE-CD2E-C016-6C4B03615820}"/>
              </a:ext>
            </a:extLst>
          </p:cNvPr>
          <p:cNvSpPr/>
          <p:nvPr/>
        </p:nvSpPr>
        <p:spPr>
          <a:xfrm>
            <a:off x="5249073" y="2839825"/>
            <a:ext cx="3649787" cy="640175"/>
          </a:xfrm>
          <a:prstGeom prst="rect">
            <a:avLst/>
          </a:prstGeom>
          <a:noFill/>
          <a:ln/>
        </p:spPr>
        <p:txBody>
          <a:bodyPr wrap="square" lIns="0" tIns="0" rIns="0" bIns="0" rtlCol="0" anchor="t">
            <a:spAutoFit/>
          </a:bodyPr>
          <a:lstStyle/>
          <a:p>
            <a:pPr>
              <a:lnSpc>
                <a:spcPts val="1700"/>
              </a:lnSpc>
            </a:pPr>
            <a:r>
              <a:rPr lang="fr-FR" sz="1200" dirty="0">
                <a:latin typeface="Inter"/>
              </a:rPr>
              <a:t>À surveiller en temps réel la santé de vos systèmes, serveurs ou objets connectés. Sert </a:t>
            </a:r>
            <a:r>
              <a:rPr lang="fr-FR" sz="1200" b="1" dirty="0">
                <a:latin typeface="Inter"/>
              </a:rPr>
              <a:t>à surveiller les données en temps réel</a:t>
            </a:r>
            <a:r>
              <a:rPr lang="fr-FR" sz="1200" dirty="0">
                <a:latin typeface="Inter"/>
              </a:rPr>
              <a:t> et afficher des indicateurs de performance.</a:t>
            </a:r>
            <a:endParaRPr lang="en-US" sz="1200" dirty="0">
              <a:latin typeface="Inter"/>
              <a:ea typeface="Inter"/>
            </a:endParaRPr>
          </a:p>
        </p:txBody>
      </p:sp>
      <p:sp>
        <p:nvSpPr>
          <p:cNvPr id="16" name="Text 10">
            <a:extLst>
              <a:ext uri="{FF2B5EF4-FFF2-40B4-BE49-F238E27FC236}">
                <a16:creationId xmlns:a16="http://schemas.microsoft.com/office/drawing/2014/main" id="{4F57CCC0-8FF3-4256-041B-D1F0F149FF6B}"/>
              </a:ext>
            </a:extLst>
          </p:cNvPr>
          <p:cNvSpPr/>
          <p:nvPr/>
        </p:nvSpPr>
        <p:spPr>
          <a:xfrm>
            <a:off x="5272729" y="2921794"/>
            <a:ext cx="128818" cy="132344"/>
          </a:xfrm>
          <a:prstGeom prst="rect">
            <a:avLst/>
          </a:prstGeom>
          <a:noFill/>
          <a:ln/>
        </p:spPr>
        <p:txBody>
          <a:bodyPr wrap="none" lIns="127508" tIns="0" rIns="0" bIns="0" rtlCol="0" anchor="t">
            <a:spAutoFit/>
          </a:bodyPr>
          <a:lstStyle/>
          <a:p>
            <a:pPr marL="0" indent="0" algn="l">
              <a:lnSpc>
                <a:spcPts val="1100"/>
              </a:lnSpc>
              <a:buNone/>
            </a:pPr>
            <a:endParaRPr lang="en-US" sz="784" dirty="0"/>
          </a:p>
        </p:txBody>
      </p:sp>
      <p:sp>
        <p:nvSpPr>
          <p:cNvPr id="17" name="Shape 11">
            <a:extLst>
              <a:ext uri="{FF2B5EF4-FFF2-40B4-BE49-F238E27FC236}">
                <a16:creationId xmlns:a16="http://schemas.microsoft.com/office/drawing/2014/main" id="{09AB742F-FB9F-93FC-DB99-D79F8BA5BC9A}"/>
              </a:ext>
            </a:extLst>
          </p:cNvPr>
          <p:cNvSpPr/>
          <p:nvPr/>
        </p:nvSpPr>
        <p:spPr>
          <a:xfrm>
            <a:off x="7144" y="4564856"/>
            <a:ext cx="9129713" cy="571500"/>
          </a:xfrm>
          <a:prstGeom prst="rect">
            <a:avLst/>
          </a:prstGeom>
          <a:solidFill>
            <a:srgbClr val="212529"/>
          </a:solidFill>
          <a:ln/>
        </p:spPr>
        <p:txBody>
          <a:bodyPr/>
          <a:lstStyle/>
          <a:p>
            <a:endParaRPr lang="fr-FR"/>
          </a:p>
        </p:txBody>
      </p:sp>
      <p:pic>
        <p:nvPicPr>
          <p:cNvPr id="18" name="Image 4" descr="preencoded.png">
            <a:extLst>
              <a:ext uri="{FF2B5EF4-FFF2-40B4-BE49-F238E27FC236}">
                <a16:creationId xmlns:a16="http://schemas.microsoft.com/office/drawing/2014/main" id="{2B2EC6B5-4969-2C1B-D173-B22A7404240C}"/>
              </a:ext>
            </a:extLst>
          </p:cNvPr>
          <p:cNvPicPr>
            <a:picLocks noChangeAspect="1"/>
          </p:cNvPicPr>
          <p:nvPr/>
        </p:nvPicPr>
        <p:blipFill>
          <a:blip r:embed="rId6"/>
          <a:stretch>
            <a:fillRect/>
          </a:stretch>
        </p:blipFill>
        <p:spPr>
          <a:xfrm>
            <a:off x="221456" y="4786313"/>
            <a:ext cx="128588" cy="128588"/>
          </a:xfrm>
          <a:prstGeom prst="rect">
            <a:avLst/>
          </a:prstGeom>
        </p:spPr>
      </p:pic>
      <p:sp>
        <p:nvSpPr>
          <p:cNvPr id="19" name="Text 12">
            <a:extLst>
              <a:ext uri="{FF2B5EF4-FFF2-40B4-BE49-F238E27FC236}">
                <a16:creationId xmlns:a16="http://schemas.microsoft.com/office/drawing/2014/main" id="{2E5DCD68-A173-D578-7447-B08F21B64234}"/>
              </a:ext>
            </a:extLst>
          </p:cNvPr>
          <p:cNvSpPr/>
          <p:nvPr/>
        </p:nvSpPr>
        <p:spPr>
          <a:xfrm>
            <a:off x="350044" y="4765774"/>
            <a:ext cx="4223742" cy="169664"/>
          </a:xfrm>
          <a:prstGeom prst="rect">
            <a:avLst/>
          </a:prstGeom>
          <a:noFill/>
          <a:ln/>
        </p:spPr>
        <p:txBody>
          <a:bodyPr wrap="none" lIns="0" tIns="0" rIns="0" bIns="0" rtlCol="0" anchor="t">
            <a:spAutoFit/>
          </a:bodyPr>
          <a:lstStyle/>
          <a:p>
            <a:pPr marL="0" indent="0" algn="l">
              <a:lnSpc>
                <a:spcPts val="1200"/>
              </a:lnSpc>
              <a:buNone/>
            </a:pPr>
            <a:r>
              <a:rPr lang="en-US" sz="942" dirty="0">
                <a:solidFill>
                  <a:srgbClr val="0D6EFD"/>
                </a:solidFill>
                <a:latin typeface="JetBrains Mono" pitchFamily="34" charset="0"/>
                <a:ea typeface="JetBrains Mono" pitchFamily="34" charset="-122"/>
                <a:cs typeface="JetBrains Mono" pitchFamily="34" charset="-120"/>
              </a:rPr>
              <a:t>Plateforme de monitoring et de visualisation temps réel</a:t>
            </a:r>
            <a:endParaRPr lang="en-US" sz="942" dirty="0"/>
          </a:p>
        </p:txBody>
      </p:sp>
      <p:pic>
        <p:nvPicPr>
          <p:cNvPr id="21" name="Image 20">
            <a:extLst>
              <a:ext uri="{FF2B5EF4-FFF2-40B4-BE49-F238E27FC236}">
                <a16:creationId xmlns:a16="http://schemas.microsoft.com/office/drawing/2014/main" id="{DCDA2594-63A2-6E17-C560-223530171CE9}"/>
              </a:ext>
            </a:extLst>
          </p:cNvPr>
          <p:cNvPicPr>
            <a:picLocks noChangeAspect="1"/>
          </p:cNvPicPr>
          <p:nvPr/>
        </p:nvPicPr>
        <p:blipFill>
          <a:blip r:embed="rId7"/>
          <a:stretch>
            <a:fillRect/>
          </a:stretch>
        </p:blipFill>
        <p:spPr>
          <a:xfrm>
            <a:off x="152400" y="891540"/>
            <a:ext cx="4710271" cy="3261360"/>
          </a:xfrm>
          <a:prstGeom prst="rect">
            <a:avLst/>
          </a:prstGeom>
        </p:spPr>
      </p:pic>
    </p:spTree>
    <p:extLst>
      <p:ext uri="{BB962C8B-B14F-4D97-AF65-F5344CB8AC3E}">
        <p14:creationId xmlns:p14="http://schemas.microsoft.com/office/powerpoint/2010/main" val="34834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920093" y="1075679"/>
            <a:ext cx="7303815" cy="2992143"/>
          </a:xfrm>
          <a:prstGeom prst="rect">
            <a:avLst/>
          </a:prstGeom>
          <a:solidFill>
            <a:srgbClr val="FFFFFF">
              <a:alpha val="10000"/>
            </a:srgbClr>
          </a:solidFill>
          <a:ln w="27432">
            <a:solidFill>
              <a:srgbClr val="FFFFFF"/>
            </a:solidFill>
            <a:prstDash val="solid"/>
          </a:ln>
        </p:spPr>
        <p:txBody>
          <a:bodyPr/>
          <a:lstStyle/>
          <a:p>
            <a:endParaRPr lang="fr-FR"/>
          </a:p>
        </p:txBody>
      </p:sp>
      <p:pic>
        <p:nvPicPr>
          <p:cNvPr id="4" name="Image 1" descr="preencoded.png"/>
          <p:cNvPicPr>
            <a:picLocks noChangeAspect="1"/>
          </p:cNvPicPr>
          <p:nvPr/>
        </p:nvPicPr>
        <p:blipFill>
          <a:blip r:embed="rId4"/>
          <a:stretch>
            <a:fillRect/>
          </a:stretch>
        </p:blipFill>
        <p:spPr>
          <a:xfrm>
            <a:off x="4286250" y="1329282"/>
            <a:ext cx="571500" cy="571500"/>
          </a:xfrm>
          <a:prstGeom prst="rect">
            <a:avLst/>
          </a:prstGeom>
        </p:spPr>
      </p:pic>
      <p:sp>
        <p:nvSpPr>
          <p:cNvPr id="5" name="Text 1"/>
          <p:cNvSpPr/>
          <p:nvPr/>
        </p:nvSpPr>
        <p:spPr>
          <a:xfrm>
            <a:off x="2096691" y="2052586"/>
            <a:ext cx="4950619" cy="603647"/>
          </a:xfrm>
          <a:prstGeom prst="rect">
            <a:avLst/>
          </a:prstGeom>
          <a:noFill/>
          <a:ln/>
        </p:spPr>
        <p:txBody>
          <a:bodyPr wrap="none" lIns="0" tIns="0" rIns="0" bIns="0" rtlCol="0" anchor="t">
            <a:spAutoFit/>
          </a:bodyPr>
          <a:lstStyle/>
          <a:p>
            <a:pPr marL="0" indent="0" algn="ctr">
              <a:lnSpc>
                <a:spcPts val="4300"/>
              </a:lnSpc>
              <a:buNone/>
            </a:pPr>
            <a:r>
              <a:rPr lang="en-US" sz="3294" b="1" dirty="0">
                <a:solidFill>
                  <a:srgbClr val="FFFFFF"/>
                </a:solidFill>
                <a:latin typeface="JetBrains Mono" pitchFamily="34" charset="0"/>
                <a:ea typeface="JetBrains Mono" pitchFamily="34" charset="-122"/>
                <a:cs typeface="JetBrains Mono" pitchFamily="34" charset="-120"/>
              </a:rPr>
              <a:t>PLACE À L'ACTION !</a:t>
            </a:r>
            <a:endParaRPr lang="en-US" sz="3294" dirty="0"/>
          </a:p>
        </p:txBody>
      </p:sp>
      <p:pic>
        <p:nvPicPr>
          <p:cNvPr id="6" name="Image 2" descr="preencoded.png"/>
          <p:cNvPicPr>
            <a:picLocks noChangeAspect="1"/>
          </p:cNvPicPr>
          <p:nvPr/>
        </p:nvPicPr>
        <p:blipFill>
          <a:blip r:embed="rId5"/>
          <a:stretch>
            <a:fillRect/>
          </a:stretch>
        </p:blipFill>
        <p:spPr>
          <a:xfrm>
            <a:off x="2827972" y="2878444"/>
            <a:ext cx="225028" cy="200025"/>
          </a:xfrm>
          <a:prstGeom prst="rect">
            <a:avLst/>
          </a:prstGeom>
        </p:spPr>
      </p:pic>
      <p:sp>
        <p:nvSpPr>
          <p:cNvPr id="7" name="Text 2"/>
          <p:cNvSpPr/>
          <p:nvPr/>
        </p:nvSpPr>
        <p:spPr>
          <a:xfrm>
            <a:off x="3200648" y="2831921"/>
            <a:ext cx="2967737" cy="261867"/>
          </a:xfrm>
          <a:prstGeom prst="rect">
            <a:avLst/>
          </a:prstGeom>
          <a:noFill/>
          <a:ln/>
        </p:spPr>
        <p:txBody>
          <a:bodyPr wrap="none" lIns="0" tIns="0" rIns="0" bIns="0" rtlCol="0" anchor="t">
            <a:spAutoFit/>
          </a:bodyPr>
          <a:lstStyle/>
          <a:p>
            <a:pPr marL="0" indent="0" algn="ctr">
              <a:lnSpc>
                <a:spcPts val="2200"/>
              </a:lnSpc>
              <a:buNone/>
            </a:pPr>
            <a:r>
              <a:rPr lang="en-US" sz="1486" dirty="0">
                <a:solidFill>
                  <a:srgbClr val="FFFFFF"/>
                </a:solidFill>
                <a:latin typeface="Inter" pitchFamily="34" charset="0"/>
                <a:ea typeface="Inter" pitchFamily="34" charset="-122"/>
                <a:cs typeface="Inter" pitchFamily="34" charset="-120"/>
              </a:rPr>
              <a:t>Exploration de </a:t>
            </a:r>
            <a:r>
              <a:rPr lang="en-US" sz="1486" dirty="0" err="1">
                <a:solidFill>
                  <a:srgbClr val="FFFFFF"/>
                </a:solidFill>
                <a:latin typeface="Inter" pitchFamily="34" charset="0"/>
                <a:ea typeface="Inter" pitchFamily="34" charset="-122"/>
                <a:cs typeface="Inter" pitchFamily="34" charset="-120"/>
              </a:rPr>
              <a:t>l'interface</a:t>
            </a:r>
            <a:r>
              <a:rPr lang="en-US" sz="1486" dirty="0">
                <a:solidFill>
                  <a:srgbClr val="FFFFFF"/>
                </a:solidFill>
                <a:latin typeface="Inter" pitchFamily="34" charset="0"/>
                <a:ea typeface="Inter" pitchFamily="34" charset="-122"/>
                <a:cs typeface="Inter" pitchFamily="34" charset="-120"/>
              </a:rPr>
              <a:t> </a:t>
            </a:r>
            <a:r>
              <a:rPr lang="en-US" sz="1486" dirty="0" err="1">
                <a:solidFill>
                  <a:srgbClr val="FFFFFF"/>
                </a:solidFill>
                <a:latin typeface="Inter" pitchFamily="34" charset="0"/>
                <a:ea typeface="Inter" pitchFamily="34" charset="-122"/>
                <a:cs typeface="Inter" pitchFamily="34" charset="-120"/>
              </a:rPr>
              <a:t>Lookerstodio</a:t>
            </a:r>
            <a:endParaRPr lang="en-US" sz="1486" dirty="0"/>
          </a:p>
        </p:txBody>
      </p:sp>
      <p:pic>
        <p:nvPicPr>
          <p:cNvPr id="8" name="Image 3" descr="preencoded.png"/>
          <p:cNvPicPr>
            <a:picLocks noChangeAspect="1"/>
          </p:cNvPicPr>
          <p:nvPr/>
        </p:nvPicPr>
        <p:blipFill>
          <a:blip r:embed="rId6"/>
          <a:stretch>
            <a:fillRect/>
          </a:stretch>
        </p:blipFill>
        <p:spPr>
          <a:xfrm>
            <a:off x="2857500" y="3230942"/>
            <a:ext cx="200025" cy="200025"/>
          </a:xfrm>
          <a:prstGeom prst="rect">
            <a:avLst/>
          </a:prstGeom>
        </p:spPr>
      </p:pic>
      <p:sp>
        <p:nvSpPr>
          <p:cNvPr id="9" name="Text 3"/>
          <p:cNvSpPr/>
          <p:nvPr/>
        </p:nvSpPr>
        <p:spPr>
          <a:xfrm>
            <a:off x="2916852" y="3199688"/>
            <a:ext cx="3228975" cy="242888"/>
          </a:xfrm>
          <a:prstGeom prst="rect">
            <a:avLst/>
          </a:prstGeom>
          <a:noFill/>
          <a:ln/>
        </p:spPr>
        <p:txBody>
          <a:bodyPr wrap="none" lIns="0" tIns="0" rIns="0" bIns="0" rtlCol="0" anchor="t">
            <a:spAutoFit/>
          </a:bodyPr>
          <a:lstStyle/>
          <a:p>
            <a:pPr marL="0" indent="0" algn="ctr">
              <a:lnSpc>
                <a:spcPts val="2200"/>
              </a:lnSpc>
              <a:buNone/>
            </a:pPr>
            <a:r>
              <a:rPr lang="en-US" sz="1486" dirty="0">
                <a:solidFill>
                  <a:srgbClr val="FFFFFF"/>
                </a:solidFill>
                <a:latin typeface="Inter" pitchFamily="34" charset="0"/>
                <a:ea typeface="Inter" pitchFamily="34" charset="-122"/>
                <a:cs typeface="Inter" pitchFamily="34" charset="-120"/>
              </a:rPr>
              <a:t>Création d'un dashboard en direct</a:t>
            </a:r>
            <a:endParaRPr lang="en-US" sz="1486" dirty="0"/>
          </a:p>
        </p:txBody>
      </p:sp>
      <p:pic>
        <p:nvPicPr>
          <p:cNvPr id="10" name="Image 4" descr="preencoded.png"/>
          <p:cNvPicPr>
            <a:picLocks noChangeAspect="1"/>
          </p:cNvPicPr>
          <p:nvPr/>
        </p:nvPicPr>
        <p:blipFill>
          <a:blip r:embed="rId7"/>
          <a:stretch>
            <a:fillRect/>
          </a:stretch>
        </p:blipFill>
        <p:spPr>
          <a:xfrm>
            <a:off x="2867322" y="3579730"/>
            <a:ext cx="150019" cy="200025"/>
          </a:xfrm>
          <a:prstGeom prst="rect">
            <a:avLst/>
          </a:prstGeom>
        </p:spPr>
      </p:pic>
      <p:sp>
        <p:nvSpPr>
          <p:cNvPr id="11" name="Text 4"/>
          <p:cNvSpPr/>
          <p:nvPr/>
        </p:nvSpPr>
        <p:spPr>
          <a:xfrm>
            <a:off x="2881610" y="3548476"/>
            <a:ext cx="3409355" cy="242888"/>
          </a:xfrm>
          <a:prstGeom prst="rect">
            <a:avLst/>
          </a:prstGeom>
          <a:noFill/>
          <a:ln/>
        </p:spPr>
        <p:txBody>
          <a:bodyPr wrap="none" lIns="0" tIns="0" rIns="0" bIns="0" rtlCol="0" anchor="t">
            <a:spAutoFit/>
          </a:bodyPr>
          <a:lstStyle/>
          <a:p>
            <a:pPr marL="0" indent="0" algn="ctr">
              <a:lnSpc>
                <a:spcPts val="2200"/>
              </a:lnSpc>
              <a:buNone/>
            </a:pPr>
            <a:r>
              <a:rPr lang="en-US" sz="1486" dirty="0">
                <a:solidFill>
                  <a:srgbClr val="FFFFFF"/>
                </a:solidFill>
                <a:latin typeface="Inter" pitchFamily="34" charset="0"/>
                <a:ea typeface="Inter" pitchFamily="34" charset="-122"/>
                <a:cs typeface="Inter" pitchFamily="34" charset="-120"/>
              </a:rPr>
              <a:t>Visualisation de données temps réel</a:t>
            </a:r>
            <a:endParaRPr lang="en-US" sz="1486"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06119"/>
          </a:xfrm>
          <a:prstGeom prst="rect">
            <a:avLst/>
          </a:prstGeom>
        </p:spPr>
      </p:pic>
      <p:sp>
        <p:nvSpPr>
          <p:cNvPr id="3" name="Shape 0"/>
          <p:cNvSpPr/>
          <p:nvPr/>
        </p:nvSpPr>
        <p:spPr>
          <a:xfrm>
            <a:off x="1528763" y="656109"/>
            <a:ext cx="6086475" cy="3244909"/>
          </a:xfrm>
          <a:prstGeom prst="rect">
            <a:avLst/>
          </a:prstGeom>
          <a:solidFill>
            <a:srgbClr val="FFFFFF"/>
          </a:solidFill>
          <a:ln w="18288">
            <a:solidFill>
              <a:srgbClr val="212529"/>
            </a:solidFill>
            <a:prstDash val="solid"/>
          </a:ln>
        </p:spPr>
        <p:txBody>
          <a:bodyPr/>
          <a:lstStyle/>
          <a:p>
            <a:endParaRPr lang="fr-FR"/>
          </a:p>
        </p:txBody>
      </p:sp>
      <p:sp>
        <p:nvSpPr>
          <p:cNvPr id="4" name="Text 1"/>
          <p:cNvSpPr/>
          <p:nvPr/>
        </p:nvSpPr>
        <p:spPr>
          <a:xfrm>
            <a:off x="2928938" y="1106444"/>
            <a:ext cx="3286125" cy="453628"/>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212529"/>
                </a:solidFill>
                <a:latin typeface="JetBrains Mono" pitchFamily="34" charset="0"/>
                <a:ea typeface="JetBrains Mono" pitchFamily="34" charset="-122"/>
                <a:cs typeface="JetBrains Mono" pitchFamily="34" charset="-120"/>
              </a:rPr>
              <a:t>LE MOT DE LA FIN</a:t>
            </a:r>
            <a:endParaRPr lang="en-US" sz="2436" dirty="0"/>
          </a:p>
        </p:txBody>
      </p:sp>
      <p:sp>
        <p:nvSpPr>
          <p:cNvPr id="5" name="Text 2"/>
          <p:cNvSpPr/>
          <p:nvPr/>
        </p:nvSpPr>
        <p:spPr>
          <a:xfrm>
            <a:off x="1700213" y="1874397"/>
            <a:ext cx="5743575" cy="248580"/>
          </a:xfrm>
          <a:prstGeom prst="rect">
            <a:avLst/>
          </a:prstGeom>
          <a:noFill/>
          <a:ln/>
        </p:spPr>
        <p:txBody>
          <a:bodyPr wrap="none" lIns="0" tIns="0" rIns="0" bIns="0" rtlCol="0" anchor="t">
            <a:spAutoFit/>
          </a:bodyPr>
          <a:lstStyle/>
          <a:p>
            <a:pPr marL="0" indent="0" algn="ctr">
              <a:lnSpc>
                <a:spcPts val="2000"/>
              </a:lnSpc>
              <a:buNone/>
            </a:pPr>
            <a:r>
              <a:rPr lang="en-US" sz="1269" dirty="0">
                <a:solidFill>
                  <a:srgbClr val="495057"/>
                </a:solidFill>
                <a:latin typeface="Inter" pitchFamily="34" charset="0"/>
                <a:ea typeface="Inter" pitchFamily="34" charset="-122"/>
                <a:cs typeface="Inter" pitchFamily="34" charset="-120"/>
              </a:rPr>
              <a:t>Il n'y a pas de "meilleur" outil, il y a juste l'outil adapté à votre besoin.</a:t>
            </a:r>
            <a:endParaRPr lang="en-US" sz="1269" dirty="0"/>
          </a:p>
        </p:txBody>
      </p:sp>
      <p:sp>
        <p:nvSpPr>
          <p:cNvPr id="6" name="Text 3"/>
          <p:cNvSpPr/>
          <p:nvPr/>
        </p:nvSpPr>
        <p:spPr>
          <a:xfrm>
            <a:off x="1700213" y="2294427"/>
            <a:ext cx="5743575" cy="497160"/>
          </a:xfrm>
          <a:prstGeom prst="rect">
            <a:avLst/>
          </a:prstGeom>
          <a:noFill/>
          <a:ln/>
        </p:spPr>
        <p:txBody>
          <a:bodyPr wrap="square" lIns="0" tIns="0" rIns="0" bIns="0" rtlCol="0" anchor="t">
            <a:spAutoFit/>
          </a:bodyPr>
          <a:lstStyle/>
          <a:p>
            <a:pPr marL="0" indent="0" algn="ctr">
              <a:lnSpc>
                <a:spcPts val="2000"/>
              </a:lnSpc>
              <a:buNone/>
            </a:pPr>
            <a:r>
              <a:rPr lang="en-US" sz="1269" dirty="0">
                <a:solidFill>
                  <a:srgbClr val="495057"/>
                </a:solidFill>
                <a:latin typeface="Inter" pitchFamily="34" charset="0"/>
                <a:ea typeface="Inter" pitchFamily="34" charset="-122"/>
                <a:cs typeface="Inter" pitchFamily="34" charset="-120"/>
              </a:rPr>
              <a:t>La force d'un projet data, c'est de savoir faire travailler ces outils ensemble.</a:t>
            </a:r>
            <a:endParaRPr lang="en-US" sz="1269" dirty="0"/>
          </a:p>
        </p:txBody>
      </p:sp>
      <p:sp>
        <p:nvSpPr>
          <p:cNvPr id="7" name="Text 4"/>
          <p:cNvSpPr/>
          <p:nvPr/>
        </p:nvSpPr>
        <p:spPr>
          <a:xfrm>
            <a:off x="2995910" y="3109238"/>
            <a:ext cx="3152180" cy="328613"/>
          </a:xfrm>
          <a:prstGeom prst="rect">
            <a:avLst/>
          </a:prstGeom>
          <a:noFill/>
          <a:ln/>
        </p:spPr>
        <p:txBody>
          <a:bodyPr wrap="none" lIns="0" tIns="0" rIns="0" bIns="0" rtlCol="0" anchor="t">
            <a:spAutoFit/>
          </a:bodyPr>
          <a:lstStyle/>
          <a:p>
            <a:pPr marL="0" indent="0" algn="ctr">
              <a:lnSpc>
                <a:spcPts val="2400"/>
              </a:lnSpc>
              <a:buNone/>
            </a:pPr>
            <a:r>
              <a:rPr lang="en-US" sz="1924" dirty="0">
                <a:solidFill>
                  <a:srgbClr val="0D6EFD">
                    <a:alpha val="98449"/>
                  </a:srgbClr>
                </a:solidFill>
                <a:latin typeface="Space Grotesk" pitchFamily="34" charset="0"/>
                <a:ea typeface="Space Grotesk" pitchFamily="34" charset="-122"/>
                <a:cs typeface="Space Grotesk" pitchFamily="34" charset="-120"/>
              </a:rPr>
              <a:t>Merci de votre attention !</a:t>
            </a:r>
            <a:endParaRPr lang="en-US" sz="1924" dirty="0"/>
          </a:p>
        </p:txBody>
      </p:sp>
      <p:pic>
        <p:nvPicPr>
          <p:cNvPr id="8" name="Image 1" descr="preencoded.png"/>
          <p:cNvPicPr>
            <a:picLocks noChangeAspect="1"/>
          </p:cNvPicPr>
          <p:nvPr/>
        </p:nvPicPr>
        <p:blipFill>
          <a:blip r:embed="rId4"/>
          <a:stretch>
            <a:fillRect/>
          </a:stretch>
        </p:blipFill>
        <p:spPr>
          <a:xfrm>
            <a:off x="3368278" y="3541778"/>
            <a:ext cx="178594" cy="142875"/>
          </a:xfrm>
          <a:prstGeom prst="rect">
            <a:avLst/>
          </a:prstGeom>
        </p:spPr>
      </p:pic>
      <p:sp>
        <p:nvSpPr>
          <p:cNvPr id="9" name="Text 5"/>
          <p:cNvSpPr/>
          <p:nvPr/>
        </p:nvSpPr>
        <p:spPr>
          <a:xfrm>
            <a:off x="3546872" y="3520347"/>
            <a:ext cx="2228850" cy="189309"/>
          </a:xfrm>
          <a:prstGeom prst="rect">
            <a:avLst/>
          </a:prstGeom>
          <a:noFill/>
          <a:ln/>
        </p:spPr>
        <p:txBody>
          <a:bodyPr wrap="none" lIns="0" tIns="0" rIns="0" bIns="0" rtlCol="0" anchor="t">
            <a:spAutoFit/>
          </a:bodyPr>
          <a:lstStyle/>
          <a:p>
            <a:pPr marL="0" indent="0" algn="ctr">
              <a:lnSpc>
                <a:spcPts val="1400"/>
              </a:lnSpc>
              <a:buNone/>
            </a:pPr>
            <a:r>
              <a:rPr lang="en-US" sz="1050" dirty="0">
                <a:solidFill>
                  <a:srgbClr val="20C997"/>
                </a:solidFill>
                <a:latin typeface="JetBrains Mono" pitchFamily="34" charset="0"/>
                <a:ea typeface="JetBrains Mono" pitchFamily="34" charset="-122"/>
                <a:cs typeface="JetBrains Mono" pitchFamily="34" charset="-120"/>
              </a:rPr>
              <a:t>Avez-vous des questions ?</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232</TotalTime>
  <Words>1002</Words>
  <Application>Microsoft Office PowerPoint</Application>
  <PresentationFormat>Affichage à l'écran (16:9)</PresentationFormat>
  <Paragraphs>93</Paragraphs>
  <Slides>13</Slides>
  <Notes>13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13</vt:i4>
      </vt:variant>
    </vt:vector>
  </HeadingPairs>
  <TitlesOfParts>
    <vt:vector size="18" baseType="lpstr">
      <vt:lpstr>Arial</vt:lpstr>
      <vt:lpstr>Inter</vt:lpstr>
      <vt:lpstr>JetBrains Mono</vt:lpstr>
      <vt:lpstr>Space Grotesk</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ECH-CHKAF HAJAR</cp:lastModifiedBy>
  <cp:revision>3</cp:revision>
  <dcterms:created xsi:type="dcterms:W3CDTF">2026-04-07T20:57:50Z</dcterms:created>
  <dcterms:modified xsi:type="dcterms:W3CDTF">2026-04-11T09:29:06Z</dcterms:modified>
</cp:coreProperties>
</file>