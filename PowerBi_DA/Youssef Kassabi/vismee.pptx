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1"/>
  </p:notesMasterIdLst>
  <p:sldIdLst>
    <p:sldId id="256" r:id="rId2"/>
    <p:sldId id="257" r:id="rId3"/>
    <p:sldId id="258" r:id="rId4"/>
    <p:sldId id="259" r:id="rId5"/>
    <p:sldId id="260" r:id="rId6"/>
    <p:sldId id="261" r:id="rId7"/>
    <p:sldId id="262" r:id="rId8"/>
    <p:sldId id="263" r:id="rId9"/>
    <p:sldId id="264" r:id="rId10"/>
  </p:sldIdLst>
  <p:sldSz cx="9144000" cy="5143500" type="screen16x9"/>
  <p:notesSz cx="5143500" cy="9144000"/>
  <p:embeddedFontLst>
    <p:embeddedFont>
      <p:font typeface="Arial Black" panose="020B0A04020102020204" pitchFamily="34" charset="0"/>
      <p:bold r:id="rId12"/>
    </p:embeddedFont>
    <p:embeddedFont>
      <p:font typeface="Ebrima" panose="02000000000000000000" pitchFamily="2" charset="0"/>
      <p:regular r:id="rId13"/>
      <p:bold r:id="rId14"/>
    </p:embeddedFont>
    <p:embeddedFont>
      <p:font typeface="Franklin Gothic Medium" panose="020B0603020102020204" pitchFamily="34" charset="0"/>
      <p:regular r:id="rId15"/>
      <p:italic r:id="rId16"/>
    </p:embeddedFont>
    <p:embeddedFont>
      <p:font typeface="Inter" panose="020B0604020202020204" charset="0"/>
      <p:regular r:id="rId17"/>
    </p:embeddedFont>
    <p:embeddedFont>
      <p:font typeface="Inter Bold" panose="020B0604020202020204" charset="0"/>
      <p:regular r:id="rId18"/>
    </p:embeddedFont>
  </p:embeddedFontLst>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78" d="100"/>
          <a:sy n="78" d="100"/>
        </p:scale>
        <p:origin x="9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2.fntdata"/><Relationship Id="rId18"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font" Target="fonts/font1.fntdata"/><Relationship Id="rId17" Type="http://schemas.openxmlformats.org/officeDocument/2006/relationships/font" Target="fonts/font6.fntdata"/><Relationship Id="rId2" Type="http://schemas.openxmlformats.org/officeDocument/2006/relationships/slide" Target="slides/slide1.xml"/><Relationship Id="rId16" Type="http://schemas.openxmlformats.org/officeDocument/2006/relationships/font" Target="fonts/font5.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font" Target="fonts/font4.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3.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99924715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sp>
        <p:nvSpPr>
          <p:cNvPr id="2" name="Shape 0"/>
          <p:cNvSpPr/>
          <p:nvPr/>
        </p:nvSpPr>
        <p:spPr>
          <a:xfrm>
            <a:off x="0" y="0"/>
            <a:ext cx="9144000" cy="5143500"/>
          </a:xfrm>
          <a:prstGeom prst="rect">
            <a:avLst/>
          </a:prstGeom>
          <a:solidFill>
            <a:srgbClr val="F6F4F4"/>
          </a:solidFill>
          <a:ln/>
        </p:spPr>
      </p:sp>
      <p:sp>
        <p:nvSpPr>
          <p:cNvPr id="3" name="Shape 1"/>
          <p:cNvSpPr/>
          <p:nvPr/>
        </p:nvSpPr>
        <p:spPr>
          <a:xfrm>
            <a:off x="0" y="0"/>
            <a:ext cx="9144000" cy="5143500"/>
          </a:xfrm>
          <a:prstGeom prst="rect">
            <a:avLst/>
          </a:prstGeom>
          <a:solidFill>
            <a:srgbClr val="FFFFFF"/>
          </a:solidFill>
          <a:ln/>
        </p:spPr>
      </p:sp>
      <p:pic>
        <p:nvPicPr>
          <p:cNvPr id="4" name="Image 0" descr="preencoded.png">
            <a:hlinkClick r:id="rId2"/>
          </p:cNvPr>
          <p:cNvPicPr>
            <a:picLocks noChangeAspect="1"/>
          </p:cNvPicPr>
          <p:nvPr/>
        </p:nvPicPr>
        <p:blipFill>
          <a:blip r:embed="rId3"/>
          <a:stretch>
            <a:fillRect/>
          </a:stretch>
        </p:blipFill>
        <p:spPr>
          <a:xfrm>
            <a:off x="8029180" y="4844491"/>
            <a:ext cx="1071843" cy="256032"/>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76000">
              <a:schemeClr val="accent1">
                <a:lumMod val="5000"/>
                <a:lumOff val="95000"/>
              </a:schemeClr>
            </a:gs>
            <a:gs pos="40000">
              <a:schemeClr val="accent1">
                <a:lumMod val="45000"/>
                <a:lumOff val="55000"/>
              </a:schemeClr>
            </a:gs>
            <a:gs pos="11000">
              <a:srgbClr val="526D9F"/>
            </a:gs>
            <a:gs pos="0">
              <a:srgbClr val="002060"/>
            </a:gs>
          </a:gsLst>
          <a:lin ang="5400000" scaled="1"/>
          <a:tileRect/>
        </a:gra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png"/><Relationship Id="rId5" Type="http://schemas.openxmlformats.org/officeDocument/2006/relationships/image" Target="../media/image6.svg"/><Relationship Id="rId4" Type="http://schemas.openxmlformats.org/officeDocument/2006/relationships/image" Target="../media/image5.svg"/></Relationships>
</file>

<file path=ppt/slides/_rels/slide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3.xml"/><Relationship Id="rId1" Type="http://schemas.openxmlformats.org/officeDocument/2006/relationships/slideLayout" Target="../slideLayouts/slideLayout4.xml"/><Relationship Id="rId4" Type="http://schemas.openxmlformats.org/officeDocument/2006/relationships/image" Target="../media/image9.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3" Type="http://schemas.openxmlformats.org/officeDocument/2006/relationships/image" Target="../media/image16.svg"/><Relationship Id="rId7" Type="http://schemas.openxmlformats.org/officeDocument/2006/relationships/image" Target="../media/image20.sv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svg"/><Relationship Id="rId4" Type="http://schemas.openxmlformats.org/officeDocument/2006/relationships/image" Target="../media/image17.svg"/></Relationships>
</file>

<file path=ppt/slides/_rels/slide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7.xml"/><Relationship Id="rId1" Type="http://schemas.openxmlformats.org/officeDocument/2006/relationships/slideLayout" Target="../slideLayouts/slideLayout8.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96119" y="1416100"/>
            <a:ext cx="4722763" cy="885974"/>
          </a:xfrm>
          <a:prstGeom prst="rect">
            <a:avLst/>
          </a:prstGeom>
          <a:noFill/>
          <a:ln/>
        </p:spPr>
        <p:txBody>
          <a:bodyPr wrap="square" lIns="0" tIns="0" rIns="0" bIns="0" rtlCol="0" anchor="t">
            <a:normAutofit/>
          </a:bodyPr>
          <a:lstStyle/>
          <a:p>
            <a:pPr marL="0" indent="0" algn="l">
              <a:lnSpc>
                <a:spcPct val="104000"/>
              </a:lnSpc>
              <a:buNone/>
            </a:pPr>
            <a:r>
              <a:rPr lang="en-US" sz="2750" b="1" dirty="0">
                <a:solidFill>
                  <a:srgbClr val="000000"/>
                </a:solidFill>
                <a:latin typeface="Ebrima" panose="02000000000000000000" pitchFamily="2" charset="0"/>
                <a:ea typeface="Ebrima" panose="02000000000000000000" pitchFamily="2" charset="0"/>
                <a:cs typeface="Ebrima" panose="02000000000000000000" pitchFamily="2" charset="0"/>
              </a:rPr>
              <a:t>Visme : Une plateforme de création de contenu visuel</a:t>
            </a:r>
            <a:endParaRPr lang="en-US" sz="2750" dirty="0">
              <a:latin typeface="Ebrima" panose="02000000000000000000" pitchFamily="2" charset="0"/>
              <a:ea typeface="Ebrima" panose="02000000000000000000" pitchFamily="2" charset="0"/>
              <a:cs typeface="Ebrima" panose="02000000000000000000" pitchFamily="2" charset="0"/>
            </a:endParaRPr>
          </a:p>
        </p:txBody>
      </p:sp>
      <p:sp>
        <p:nvSpPr>
          <p:cNvPr id="4" name="Text 1"/>
          <p:cNvSpPr/>
          <p:nvPr/>
        </p:nvSpPr>
        <p:spPr>
          <a:xfrm>
            <a:off x="496119" y="2514674"/>
            <a:ext cx="5179963" cy="226814"/>
          </a:xfrm>
          <a:prstGeom prst="rect">
            <a:avLst/>
          </a:prstGeom>
          <a:noFill/>
          <a:ln/>
        </p:spPr>
        <p:txBody>
          <a:bodyPr wrap="none" lIns="0" tIns="0" rIns="0" bIns="0" rtlCol="0" anchor="t"/>
          <a:lstStyle/>
          <a:p>
            <a:pPr marL="0" indent="0" algn="l">
              <a:lnSpc>
                <a:spcPct val="133000"/>
              </a:lnSpc>
              <a:buNone/>
            </a:pPr>
            <a:endParaRPr lang="en-US" sz="1100" dirty="0"/>
          </a:p>
        </p:txBody>
      </p:sp>
      <p:sp>
        <p:nvSpPr>
          <p:cNvPr id="5" name="Shape 2"/>
          <p:cNvSpPr/>
          <p:nvPr/>
        </p:nvSpPr>
        <p:spPr>
          <a:xfrm>
            <a:off x="183698" y="4224879"/>
            <a:ext cx="4017139" cy="353587"/>
          </a:xfrm>
          <a:prstGeom prst="roundRect">
            <a:avLst>
              <a:gd name="adj" fmla="val 7205"/>
            </a:avLst>
          </a:prstGeom>
          <a:solidFill>
            <a:srgbClr val="DADBF1"/>
          </a:solidFill>
          <a:ln w="4763">
            <a:solidFill>
              <a:srgbClr val="C0C1D7"/>
            </a:solidFill>
            <a:prstDash val="solid"/>
          </a:ln>
        </p:spPr>
      </p:sp>
      <p:sp>
        <p:nvSpPr>
          <p:cNvPr id="6" name="Text 3"/>
          <p:cNvSpPr/>
          <p:nvPr/>
        </p:nvSpPr>
        <p:spPr>
          <a:xfrm>
            <a:off x="257630" y="4290944"/>
            <a:ext cx="1772022" cy="221456"/>
          </a:xfrm>
          <a:prstGeom prst="rect">
            <a:avLst/>
          </a:prstGeom>
          <a:noFill/>
          <a:ln/>
        </p:spPr>
        <p:txBody>
          <a:bodyPr wrap="none" lIns="0" tIns="0" rIns="0" bIns="0" rtlCol="0" anchor="t"/>
          <a:lstStyle/>
          <a:p>
            <a:pPr marL="0" indent="0" algn="l">
              <a:lnSpc>
                <a:spcPct val="104000"/>
              </a:lnSpc>
              <a:buNone/>
            </a:pPr>
            <a:r>
              <a:rPr lang="en-US" sz="1350" b="1" dirty="0" err="1">
                <a:solidFill>
                  <a:srgbClr val="272525"/>
                </a:solidFill>
                <a:latin typeface="Inter Bold" pitchFamily="34" charset="0"/>
                <a:ea typeface="Inter Bold" pitchFamily="34" charset="-122"/>
                <a:cs typeface="Inter Bold" pitchFamily="34" charset="-120"/>
              </a:rPr>
              <a:t>Présenté</a:t>
            </a:r>
            <a:r>
              <a:rPr lang="en-US" sz="1350" b="1" dirty="0">
                <a:solidFill>
                  <a:srgbClr val="272525"/>
                </a:solidFill>
                <a:latin typeface="Inter Bold" pitchFamily="34" charset="0"/>
                <a:ea typeface="Inter Bold" pitchFamily="34" charset="-122"/>
                <a:cs typeface="Inter Bold" pitchFamily="34" charset="-120"/>
              </a:rPr>
              <a:t> par</a:t>
            </a:r>
            <a:r>
              <a:rPr lang="fr-FR" sz="1350" b="1" dirty="0">
                <a:solidFill>
                  <a:srgbClr val="272525"/>
                </a:solidFill>
                <a:latin typeface="Inter Bold" pitchFamily="34" charset="0"/>
                <a:ea typeface="Inter Bold" pitchFamily="34" charset="-122"/>
                <a:cs typeface="Inter Bold" pitchFamily="34" charset="-120"/>
              </a:rPr>
              <a:t>:</a:t>
            </a:r>
            <a:endParaRPr lang="en-US" sz="1350" dirty="0"/>
          </a:p>
        </p:txBody>
      </p:sp>
      <p:sp>
        <p:nvSpPr>
          <p:cNvPr id="7" name="Text 4"/>
          <p:cNvSpPr/>
          <p:nvPr/>
        </p:nvSpPr>
        <p:spPr>
          <a:xfrm>
            <a:off x="1454513" y="4306465"/>
            <a:ext cx="2664440" cy="305991"/>
          </a:xfrm>
          <a:prstGeom prst="rect">
            <a:avLst/>
          </a:prstGeom>
          <a:noFill/>
          <a:ln/>
        </p:spPr>
        <p:txBody>
          <a:bodyPr wrap="none" lIns="0" tIns="0" rIns="0" bIns="0" rtlCol="0" anchor="t"/>
          <a:lstStyle/>
          <a:p>
            <a:pPr>
              <a:lnSpc>
                <a:spcPct val="133000"/>
              </a:lnSpc>
            </a:pPr>
            <a:r>
              <a:rPr lang="en-US" sz="1100" dirty="0">
                <a:solidFill>
                  <a:srgbClr val="272525"/>
                </a:solidFill>
                <a:latin typeface="Inter Bold" panose="020B0604020202020204" charset="0"/>
                <a:ea typeface="Inter" pitchFamily="34" charset="-122"/>
                <a:cs typeface="Inter" pitchFamily="34" charset="-120"/>
              </a:rPr>
              <a:t>Youssef Kassabi &amp;</a:t>
            </a:r>
            <a:r>
              <a:rPr lang="ar-SA" sz="1100" dirty="0">
                <a:solidFill>
                  <a:srgbClr val="272525"/>
                </a:solidFill>
                <a:latin typeface="Inter Bold" panose="020B0604020202020204" charset="0"/>
                <a:ea typeface="Inter" pitchFamily="34" charset="-122"/>
                <a:cs typeface="Inter" pitchFamily="34" charset="-120"/>
              </a:rPr>
              <a:t> </a:t>
            </a:r>
            <a:r>
              <a:rPr lang="en-US" sz="1100" dirty="0">
                <a:solidFill>
                  <a:srgbClr val="272525"/>
                </a:solidFill>
                <a:latin typeface="Inter Bold" panose="020B0604020202020204" charset="0"/>
              </a:rPr>
              <a:t>Ayoub </a:t>
            </a:r>
            <a:r>
              <a:rPr lang="en-US" sz="1100" dirty="0" err="1">
                <a:solidFill>
                  <a:srgbClr val="272525"/>
                </a:solidFill>
                <a:latin typeface="Inter Bold" panose="020B0604020202020204" charset="0"/>
              </a:rPr>
              <a:t>ait</a:t>
            </a:r>
            <a:r>
              <a:rPr lang="en-US" sz="1100" dirty="0">
                <a:solidFill>
                  <a:srgbClr val="272525"/>
                </a:solidFill>
                <a:latin typeface="Inter Bold" panose="020B0604020202020204" charset="0"/>
              </a:rPr>
              <a:t> </a:t>
            </a:r>
            <a:r>
              <a:rPr lang="en-US" sz="1100" dirty="0" err="1">
                <a:solidFill>
                  <a:srgbClr val="272525"/>
                </a:solidFill>
                <a:latin typeface="Inter Bold" panose="020B0604020202020204" charset="0"/>
              </a:rPr>
              <a:t>ourab</a:t>
            </a:r>
            <a:endParaRPr lang="en-US" sz="1100" dirty="0">
              <a:latin typeface="Inter Bold" panose="020B0604020202020204" charset="0"/>
            </a:endParaRPr>
          </a:p>
          <a:p>
            <a:pPr marL="0" indent="0" algn="l">
              <a:lnSpc>
                <a:spcPct val="133000"/>
              </a:lnSpc>
              <a:buNone/>
            </a:pPr>
            <a:r>
              <a:rPr lang="ar-SA" sz="1100" dirty="0">
                <a:solidFill>
                  <a:srgbClr val="272525"/>
                </a:solidFill>
                <a:latin typeface="Arial Black" panose="020B0A04020102020204" pitchFamily="34" charset="0"/>
                <a:ea typeface="Inter" pitchFamily="34" charset="-122"/>
                <a:cs typeface="Inter" pitchFamily="34" charset="-120"/>
              </a:rPr>
              <a:t>  </a:t>
            </a:r>
            <a:endParaRPr lang="en-US" sz="1100" dirty="0">
              <a:solidFill>
                <a:srgbClr val="272525"/>
              </a:solidFill>
              <a:latin typeface="Arial Black" panose="020B0A04020102020204" pitchFamily="34" charset="0"/>
              <a:ea typeface="Inter" pitchFamily="34" charset="-122"/>
              <a:cs typeface="Inter" pitchFamily="34" charset="-120"/>
            </a:endParaRPr>
          </a:p>
        </p:txBody>
      </p:sp>
      <p:sp>
        <p:nvSpPr>
          <p:cNvPr id="8" name="Shape 5"/>
          <p:cNvSpPr/>
          <p:nvPr/>
        </p:nvSpPr>
        <p:spPr>
          <a:xfrm flipH="1">
            <a:off x="8503101" y="4394478"/>
            <a:ext cx="457201" cy="367977"/>
          </a:xfrm>
          <a:prstGeom prst="roundRect">
            <a:avLst>
              <a:gd name="adj" fmla="val 7205"/>
            </a:avLst>
          </a:prstGeom>
          <a:solidFill>
            <a:srgbClr val="DADBF1"/>
          </a:solidFill>
          <a:ln w="4763">
            <a:solidFill>
              <a:srgbClr val="C0C1D7"/>
            </a:solidFill>
            <a:prstDash val="solid"/>
          </a:ln>
        </p:spPr>
      </p:sp>
      <p:sp>
        <p:nvSpPr>
          <p:cNvPr id="9" name="Text 6"/>
          <p:cNvSpPr/>
          <p:nvPr/>
        </p:nvSpPr>
        <p:spPr>
          <a:xfrm>
            <a:off x="3074863" y="3047479"/>
            <a:ext cx="1772022" cy="221456"/>
          </a:xfrm>
          <a:prstGeom prst="rect">
            <a:avLst/>
          </a:prstGeom>
          <a:noFill/>
          <a:ln/>
        </p:spPr>
        <p:txBody>
          <a:bodyPr wrap="none" lIns="0" tIns="0" rIns="0" bIns="0" rtlCol="0" anchor="t"/>
          <a:lstStyle/>
          <a:p>
            <a:pPr marL="0" indent="0" algn="l">
              <a:lnSpc>
                <a:spcPct val="104000"/>
              </a:lnSpc>
              <a:buNone/>
            </a:pPr>
            <a:endParaRPr lang="en-US" sz="1350" dirty="0"/>
          </a:p>
        </p:txBody>
      </p:sp>
      <p:sp>
        <p:nvSpPr>
          <p:cNvPr id="10" name="Text 7"/>
          <p:cNvSpPr/>
          <p:nvPr/>
        </p:nvSpPr>
        <p:spPr>
          <a:xfrm>
            <a:off x="3074863" y="3353991"/>
            <a:ext cx="1997497" cy="226814"/>
          </a:xfrm>
          <a:prstGeom prst="rect">
            <a:avLst/>
          </a:prstGeom>
          <a:noFill/>
          <a:ln/>
        </p:spPr>
        <p:txBody>
          <a:bodyPr wrap="none" lIns="0" tIns="0" rIns="0" bIns="0" rtlCol="0" anchor="t"/>
          <a:lstStyle/>
          <a:p>
            <a:pPr marL="0" indent="0" algn="l">
              <a:lnSpc>
                <a:spcPct val="133000"/>
              </a:lnSpc>
              <a:buNone/>
            </a:pPr>
            <a:endParaRPr lang="en-US" sz="1100" dirty="0"/>
          </a:p>
        </p:txBody>
      </p:sp>
      <p:pic>
        <p:nvPicPr>
          <p:cNvPr id="12" name="Picture 11">
            <a:extLst>
              <a:ext uri="{FF2B5EF4-FFF2-40B4-BE49-F238E27FC236}">
                <a16:creationId xmlns:a16="http://schemas.microsoft.com/office/drawing/2014/main" id="{B7A79861-54F6-7146-CDD6-897325CF4A05}"/>
              </a:ext>
            </a:extLst>
          </p:cNvPr>
          <p:cNvPicPr>
            <a:picLocks noChangeAspect="1"/>
          </p:cNvPicPr>
          <p:nvPr/>
        </p:nvPicPr>
        <p:blipFill>
          <a:blip r:embed="rId4"/>
          <a:stretch>
            <a:fillRect/>
          </a:stretch>
        </p:blipFill>
        <p:spPr>
          <a:xfrm>
            <a:off x="5714999" y="0"/>
            <a:ext cx="3429000"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3" name="Text 0"/>
          <p:cNvSpPr/>
          <p:nvPr/>
        </p:nvSpPr>
        <p:spPr>
          <a:xfrm>
            <a:off x="496119" y="513680"/>
            <a:ext cx="4043363" cy="442987"/>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Inter Bold" pitchFamily="34" charset="0"/>
                <a:ea typeface="Inter Bold" pitchFamily="34" charset="-122"/>
                <a:cs typeface="Inter Bold" pitchFamily="34" charset="-120"/>
              </a:rPr>
              <a:t>Introduction à Visme</a:t>
            </a:r>
            <a:endParaRPr lang="en-US" sz="2750" dirty="0"/>
          </a:p>
        </p:txBody>
      </p:sp>
      <p:sp>
        <p:nvSpPr>
          <p:cNvPr id="4" name="Text 1"/>
          <p:cNvSpPr/>
          <p:nvPr/>
        </p:nvSpPr>
        <p:spPr>
          <a:xfrm>
            <a:off x="496119" y="1169268"/>
            <a:ext cx="4722763" cy="907256"/>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Visme est une plateforme SaaS de création visuelle qui combine outils de présentation, infographies, rapports et assets pour réseaux sociaux. Elle facilite la production de contenus professionnels sans nécessiter de compétences poussées en design.</a:t>
            </a:r>
            <a:endParaRPr lang="en-US" sz="1100" dirty="0"/>
          </a:p>
        </p:txBody>
      </p:sp>
      <p:pic>
        <p:nvPicPr>
          <p:cNvPr id="5" name="Image 1"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2235994"/>
            <a:ext cx="354360" cy="354360"/>
          </a:xfrm>
          <a:prstGeom prst="rect">
            <a:avLst/>
          </a:prstGeom>
        </p:spPr>
      </p:pic>
      <p:sp>
        <p:nvSpPr>
          <p:cNvPr id="6" name="Text 2"/>
          <p:cNvSpPr/>
          <p:nvPr/>
        </p:nvSpPr>
        <p:spPr>
          <a:xfrm>
            <a:off x="1027658" y="2235994"/>
            <a:ext cx="1772022" cy="221456"/>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Inter Bold" pitchFamily="34" charset="0"/>
                <a:ea typeface="Inter Bold" pitchFamily="34" charset="-122"/>
                <a:cs typeface="Inter Bold" pitchFamily="34" charset="-120"/>
              </a:rPr>
              <a:t>Usage polyvalent</a:t>
            </a:r>
            <a:endParaRPr lang="en-US" sz="1350" dirty="0"/>
          </a:p>
        </p:txBody>
      </p:sp>
      <p:sp>
        <p:nvSpPr>
          <p:cNvPr id="7" name="Text 3"/>
          <p:cNvSpPr/>
          <p:nvPr/>
        </p:nvSpPr>
        <p:spPr>
          <a:xfrm>
            <a:off x="1027658" y="2542505"/>
            <a:ext cx="4191223"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Présentations, infographies, rapports, visuels sociaux.</a:t>
            </a:r>
            <a:endParaRPr lang="en-US" sz="1100" dirty="0"/>
          </a:p>
        </p:txBody>
      </p:sp>
      <p:pic>
        <p:nvPicPr>
          <p:cNvPr id="8" name="Image 2"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96119" y="3052837"/>
            <a:ext cx="354360" cy="354360"/>
          </a:xfrm>
          <a:prstGeom prst="rect">
            <a:avLst/>
          </a:prstGeom>
        </p:spPr>
      </p:pic>
      <p:sp>
        <p:nvSpPr>
          <p:cNvPr id="9" name="Text 4"/>
          <p:cNvSpPr/>
          <p:nvPr/>
        </p:nvSpPr>
        <p:spPr>
          <a:xfrm>
            <a:off x="1027658" y="3052837"/>
            <a:ext cx="1772022" cy="221456"/>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Inter Bold" pitchFamily="34" charset="0"/>
                <a:ea typeface="Inter Bold" pitchFamily="34" charset="-122"/>
                <a:cs typeface="Inter Bold" pitchFamily="34" charset="-120"/>
              </a:rPr>
              <a:t>Public cible</a:t>
            </a:r>
            <a:endParaRPr lang="en-US" sz="1350" dirty="0"/>
          </a:p>
        </p:txBody>
      </p:sp>
      <p:sp>
        <p:nvSpPr>
          <p:cNvPr id="10" name="Text 5"/>
          <p:cNvSpPr/>
          <p:nvPr/>
        </p:nvSpPr>
        <p:spPr>
          <a:xfrm>
            <a:off x="1027658" y="3359348"/>
            <a:ext cx="4191223" cy="226814"/>
          </a:xfrm>
          <a:prstGeom prst="rect">
            <a:avLst/>
          </a:prstGeom>
          <a:noFill/>
          <a:ln/>
        </p:spPr>
        <p:txBody>
          <a:bodyPr wrap="none" lIns="0" tIns="0" rIns="0" bIns="0" rtlCol="0" anchor="t"/>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Marketeurs, communicants, formateurs et analystes.</a:t>
            </a:r>
            <a:endParaRPr lang="en-US" sz="1100" dirty="0"/>
          </a:p>
        </p:txBody>
      </p:sp>
      <p:pic>
        <p:nvPicPr>
          <p:cNvPr id="11" name="Image 3"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496119" y="3869680"/>
            <a:ext cx="354360" cy="354360"/>
          </a:xfrm>
          <a:prstGeom prst="rect">
            <a:avLst/>
          </a:prstGeom>
        </p:spPr>
      </p:pic>
      <p:sp>
        <p:nvSpPr>
          <p:cNvPr id="12" name="Text 6"/>
          <p:cNvSpPr/>
          <p:nvPr/>
        </p:nvSpPr>
        <p:spPr>
          <a:xfrm>
            <a:off x="1027658" y="3869680"/>
            <a:ext cx="1772022" cy="221456"/>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Inter Bold" pitchFamily="34" charset="0"/>
                <a:ea typeface="Inter Bold" pitchFamily="34" charset="-122"/>
                <a:cs typeface="Inter Bold" pitchFamily="34" charset="-120"/>
              </a:rPr>
              <a:t>Popularité</a:t>
            </a:r>
            <a:endParaRPr lang="en-US" sz="1350" dirty="0"/>
          </a:p>
        </p:txBody>
      </p:sp>
      <p:sp>
        <p:nvSpPr>
          <p:cNvPr id="13" name="Text 7"/>
          <p:cNvSpPr/>
          <p:nvPr/>
        </p:nvSpPr>
        <p:spPr>
          <a:xfrm>
            <a:off x="1027658" y="4176192"/>
            <a:ext cx="419122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Réputée pour ses templates professionnels et ses fonctionnalités de visualisation.</a:t>
            </a:r>
            <a:endParaRPr lang="en-US" sz="1100" dirty="0"/>
          </a:p>
        </p:txBody>
      </p:sp>
      <p:pic>
        <p:nvPicPr>
          <p:cNvPr id="15" name="Picture 14">
            <a:extLst>
              <a:ext uri="{FF2B5EF4-FFF2-40B4-BE49-F238E27FC236}">
                <a16:creationId xmlns:a16="http://schemas.microsoft.com/office/drawing/2014/main" id="{4E4623DC-82E6-1BC7-B3ED-83BDA20062A2}"/>
              </a:ext>
            </a:extLst>
          </p:cNvPr>
          <p:cNvPicPr>
            <a:picLocks noChangeAspect="1"/>
          </p:cNvPicPr>
          <p:nvPr/>
        </p:nvPicPr>
        <p:blipFill>
          <a:blip r:embed="rId6"/>
          <a:stretch>
            <a:fillRect/>
          </a:stretch>
        </p:blipFill>
        <p:spPr>
          <a:xfrm>
            <a:off x="5222281" y="-29245"/>
            <a:ext cx="3986079" cy="51435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925119" y="454819"/>
            <a:ext cx="4001319" cy="442987"/>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Inter Bold" pitchFamily="34" charset="0"/>
                <a:ea typeface="Inter Bold" pitchFamily="34" charset="-122"/>
                <a:cs typeface="Inter Bold" pitchFamily="34" charset="-120"/>
              </a:rPr>
              <a:t>Historique de Visme</a:t>
            </a:r>
            <a:endParaRPr lang="en-US" sz="2750" dirty="0"/>
          </a:p>
        </p:txBody>
      </p:sp>
      <p:sp>
        <p:nvSpPr>
          <p:cNvPr id="4" name="Text 1"/>
          <p:cNvSpPr/>
          <p:nvPr/>
        </p:nvSpPr>
        <p:spPr>
          <a:xfrm>
            <a:off x="3925119" y="1110407"/>
            <a:ext cx="4722763"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Franklin Gothic Medium" panose="020B0603020102020204" pitchFamily="34" charset="0"/>
                <a:ea typeface="Inter" pitchFamily="34" charset="-122"/>
                <a:cs typeface="Inter" pitchFamily="34" charset="-120"/>
              </a:rPr>
              <a:t>Depuis sa création, Visme a évolué d'un simple outil de diagrammes vers une suite complète de création visuelle intégrant templates, widgets interactifs et collaboration en temps réel.</a:t>
            </a:r>
            <a:endParaRPr lang="en-US" sz="1100" dirty="0">
              <a:latin typeface="Franklin Gothic Medium" panose="020B0603020102020204" pitchFamily="34" charset="0"/>
            </a:endParaRPr>
          </a:p>
        </p:txBody>
      </p:sp>
      <p:pic>
        <p:nvPicPr>
          <p:cNvPr id="5" name="Image 1" descr="preencoded.png"/>
          <p:cNvPicPr>
            <a:picLocks noChangeAspect="1"/>
          </p:cNvPicPr>
          <p:nvPr/>
        </p:nvPicPr>
        <p:blipFill>
          <a:blip r:embed="rId4"/>
          <a:stretch>
            <a:fillRect/>
          </a:stretch>
        </p:blipFill>
        <p:spPr>
          <a:xfrm>
            <a:off x="3497581" y="1950318"/>
            <a:ext cx="5646420" cy="2125191"/>
          </a:xfrm>
          <a:prstGeom prst="rect">
            <a:avLst/>
          </a:prstGeom>
        </p:spPr>
      </p:pic>
      <p:sp>
        <p:nvSpPr>
          <p:cNvPr id="6" name="Text 2"/>
          <p:cNvSpPr/>
          <p:nvPr/>
        </p:nvSpPr>
        <p:spPr>
          <a:xfrm>
            <a:off x="4636554" y="2089670"/>
            <a:ext cx="826463" cy="127716"/>
          </a:xfrm>
          <a:prstGeom prst="rect">
            <a:avLst/>
          </a:prstGeom>
          <a:noFill/>
          <a:ln/>
        </p:spPr>
        <p:txBody>
          <a:bodyPr wrap="none" lIns="0" tIns="0" rIns="0" bIns="0" rtlCol="0" anchor="t"/>
          <a:lstStyle/>
          <a:p>
            <a:pPr marL="0" indent="0" algn="ctr">
              <a:lnSpc>
                <a:spcPct val="104000"/>
              </a:lnSpc>
              <a:buNone/>
            </a:pPr>
            <a:r>
              <a:rPr lang="en-US" sz="800" b="1" dirty="0">
                <a:solidFill>
                  <a:srgbClr val="272525"/>
                </a:solidFill>
                <a:latin typeface="Inter Bold" pitchFamily="34" charset="0"/>
                <a:ea typeface="Inter Bold" pitchFamily="34" charset="-122"/>
                <a:cs typeface="Inter Bold" pitchFamily="34" charset="-120"/>
              </a:rPr>
              <a:t>Creation</a:t>
            </a:r>
            <a:endParaRPr lang="en-US" sz="800" dirty="0"/>
          </a:p>
        </p:txBody>
      </p:sp>
      <p:sp>
        <p:nvSpPr>
          <p:cNvPr id="7" name="Text 3"/>
          <p:cNvSpPr/>
          <p:nvPr/>
        </p:nvSpPr>
        <p:spPr>
          <a:xfrm>
            <a:off x="4636554" y="2253714"/>
            <a:ext cx="826463" cy="102173"/>
          </a:xfrm>
          <a:prstGeom prst="rect">
            <a:avLst/>
          </a:prstGeom>
          <a:noFill/>
          <a:ln/>
        </p:spPr>
        <p:txBody>
          <a:bodyPr wrap="none" lIns="0" tIns="0" rIns="0" bIns="0" rtlCol="0" anchor="t"/>
          <a:lstStyle/>
          <a:p>
            <a:pPr marL="0" indent="0" algn="ctr">
              <a:lnSpc>
                <a:spcPct val="104000"/>
              </a:lnSpc>
              <a:buNone/>
            </a:pPr>
            <a:r>
              <a:rPr lang="en-US" sz="600" dirty="0">
                <a:solidFill>
                  <a:srgbClr val="272525"/>
                </a:solidFill>
                <a:latin typeface="Inter" pitchFamily="34" charset="0"/>
                <a:ea typeface="Inter" pitchFamily="34" charset="-122"/>
                <a:cs typeface="Inter" pitchFamily="34" charset="-120"/>
              </a:rPr>
              <a:t>Founded in Year 1</a:t>
            </a:r>
            <a:endParaRPr lang="en-US" sz="600" dirty="0"/>
          </a:p>
        </p:txBody>
      </p:sp>
      <p:sp>
        <p:nvSpPr>
          <p:cNvPr id="8" name="Text 4"/>
          <p:cNvSpPr/>
          <p:nvPr/>
        </p:nvSpPr>
        <p:spPr>
          <a:xfrm>
            <a:off x="5453935" y="3632477"/>
            <a:ext cx="831005" cy="127716"/>
          </a:xfrm>
          <a:prstGeom prst="rect">
            <a:avLst/>
          </a:prstGeom>
          <a:noFill/>
          <a:ln/>
        </p:spPr>
        <p:txBody>
          <a:bodyPr wrap="none" lIns="0" tIns="0" rIns="0" bIns="0" rtlCol="0" anchor="t"/>
          <a:lstStyle/>
          <a:p>
            <a:pPr marL="0" indent="0" algn="ctr">
              <a:lnSpc>
                <a:spcPct val="104000"/>
              </a:lnSpc>
              <a:buNone/>
            </a:pPr>
            <a:r>
              <a:rPr lang="en-US" sz="800" b="1" dirty="0">
                <a:solidFill>
                  <a:srgbClr val="272525"/>
                </a:solidFill>
                <a:latin typeface="Inter Bold" pitchFamily="34" charset="0"/>
                <a:ea typeface="Inter Bold" pitchFamily="34" charset="-122"/>
                <a:cs typeface="Inter Bold" pitchFamily="34" charset="-120"/>
              </a:rPr>
              <a:t>Public Launch</a:t>
            </a:r>
            <a:endParaRPr lang="en-US" sz="800" dirty="0"/>
          </a:p>
        </p:txBody>
      </p:sp>
      <p:sp>
        <p:nvSpPr>
          <p:cNvPr id="9" name="Text 5"/>
          <p:cNvSpPr/>
          <p:nvPr/>
        </p:nvSpPr>
        <p:spPr>
          <a:xfrm>
            <a:off x="5453935" y="3796521"/>
            <a:ext cx="831005" cy="204345"/>
          </a:xfrm>
          <a:prstGeom prst="rect">
            <a:avLst/>
          </a:prstGeom>
          <a:noFill/>
          <a:ln/>
        </p:spPr>
        <p:txBody>
          <a:bodyPr wrap="square" lIns="0" tIns="0" rIns="0" bIns="0" rtlCol="0" anchor="t">
            <a:normAutofit/>
          </a:bodyPr>
          <a:lstStyle/>
          <a:p>
            <a:pPr marL="0" indent="0" algn="ctr">
              <a:lnSpc>
                <a:spcPct val="104000"/>
              </a:lnSpc>
              <a:buNone/>
            </a:pPr>
            <a:r>
              <a:rPr lang="en-US" sz="600" dirty="0">
                <a:solidFill>
                  <a:srgbClr val="272525"/>
                </a:solidFill>
                <a:latin typeface="Inter" pitchFamily="34" charset="0"/>
                <a:ea typeface="Inter" pitchFamily="34" charset="-122"/>
                <a:cs typeface="Inter" pitchFamily="34" charset="-120"/>
              </a:rPr>
              <a:t>First public version released</a:t>
            </a:r>
            <a:endParaRPr lang="en-US" sz="600" dirty="0"/>
          </a:p>
        </p:txBody>
      </p:sp>
      <p:sp>
        <p:nvSpPr>
          <p:cNvPr id="10" name="Text 6"/>
          <p:cNvSpPr/>
          <p:nvPr/>
        </p:nvSpPr>
        <p:spPr>
          <a:xfrm>
            <a:off x="6262234" y="1958833"/>
            <a:ext cx="826464" cy="255432"/>
          </a:xfrm>
          <a:prstGeom prst="rect">
            <a:avLst/>
          </a:prstGeom>
          <a:noFill/>
          <a:ln/>
        </p:spPr>
        <p:txBody>
          <a:bodyPr wrap="square" lIns="0" tIns="0" rIns="0" bIns="0" rtlCol="0" anchor="t">
            <a:normAutofit/>
          </a:bodyPr>
          <a:lstStyle/>
          <a:p>
            <a:pPr marL="0" indent="0" algn="ctr">
              <a:lnSpc>
                <a:spcPct val="104000"/>
              </a:lnSpc>
              <a:buNone/>
            </a:pPr>
            <a:r>
              <a:rPr lang="en-US" sz="800" b="1" dirty="0">
                <a:solidFill>
                  <a:srgbClr val="272525"/>
                </a:solidFill>
                <a:latin typeface="Inter Bold" pitchFamily="34" charset="0"/>
                <a:ea typeface="Inter Bold" pitchFamily="34" charset="-122"/>
                <a:cs typeface="Inter Bold" pitchFamily="34" charset="-120"/>
              </a:rPr>
              <a:t>Templates Added</a:t>
            </a:r>
            <a:endParaRPr lang="en-US" sz="800" dirty="0"/>
          </a:p>
        </p:txBody>
      </p:sp>
      <p:sp>
        <p:nvSpPr>
          <p:cNvPr id="11" name="Text 7"/>
          <p:cNvSpPr/>
          <p:nvPr/>
        </p:nvSpPr>
        <p:spPr>
          <a:xfrm>
            <a:off x="6262234" y="2250592"/>
            <a:ext cx="826464" cy="204345"/>
          </a:xfrm>
          <a:prstGeom prst="rect">
            <a:avLst/>
          </a:prstGeom>
          <a:noFill/>
          <a:ln/>
        </p:spPr>
        <p:txBody>
          <a:bodyPr wrap="square" lIns="0" tIns="0" rIns="0" bIns="0" rtlCol="0" anchor="t">
            <a:normAutofit/>
          </a:bodyPr>
          <a:lstStyle/>
          <a:p>
            <a:pPr marL="0" indent="0" algn="ctr">
              <a:lnSpc>
                <a:spcPct val="104000"/>
              </a:lnSpc>
              <a:buNone/>
            </a:pPr>
            <a:r>
              <a:rPr lang="en-US" sz="600" dirty="0">
                <a:solidFill>
                  <a:srgbClr val="272525"/>
                </a:solidFill>
                <a:latin typeface="Inter" pitchFamily="34" charset="0"/>
                <a:ea typeface="Inter" pitchFamily="34" charset="-122"/>
                <a:cs typeface="Inter" pitchFamily="34" charset="-120"/>
              </a:rPr>
              <a:t>Infographics and templates introduced</a:t>
            </a:r>
            <a:endParaRPr lang="en-US" sz="600" dirty="0"/>
          </a:p>
        </p:txBody>
      </p:sp>
      <p:sp>
        <p:nvSpPr>
          <p:cNvPr id="12" name="Text 8"/>
          <p:cNvSpPr/>
          <p:nvPr/>
        </p:nvSpPr>
        <p:spPr>
          <a:xfrm>
            <a:off x="7079616" y="3568619"/>
            <a:ext cx="826463" cy="255432"/>
          </a:xfrm>
          <a:prstGeom prst="rect">
            <a:avLst/>
          </a:prstGeom>
          <a:noFill/>
          <a:ln/>
        </p:spPr>
        <p:txBody>
          <a:bodyPr wrap="square" lIns="0" tIns="0" rIns="0" bIns="0" rtlCol="0" anchor="t">
            <a:normAutofit/>
          </a:bodyPr>
          <a:lstStyle/>
          <a:p>
            <a:pPr marL="0" indent="0" algn="ctr">
              <a:lnSpc>
                <a:spcPct val="104000"/>
              </a:lnSpc>
              <a:buNone/>
            </a:pPr>
            <a:r>
              <a:rPr lang="en-US" sz="800" b="1" dirty="0">
                <a:solidFill>
                  <a:srgbClr val="272525"/>
                </a:solidFill>
                <a:latin typeface="Inter Bold" pitchFamily="34" charset="0"/>
                <a:ea typeface="Inter Bold" pitchFamily="34" charset="-122"/>
                <a:cs typeface="Inter Bold" pitchFamily="34" charset="-120"/>
              </a:rPr>
              <a:t>Interactive Dashboards</a:t>
            </a:r>
            <a:endParaRPr lang="en-US" sz="800" dirty="0"/>
          </a:p>
        </p:txBody>
      </p:sp>
      <p:sp>
        <p:nvSpPr>
          <p:cNvPr id="13" name="Text 9"/>
          <p:cNvSpPr/>
          <p:nvPr/>
        </p:nvSpPr>
        <p:spPr>
          <a:xfrm>
            <a:off x="7079616" y="3860379"/>
            <a:ext cx="826463" cy="204345"/>
          </a:xfrm>
          <a:prstGeom prst="rect">
            <a:avLst/>
          </a:prstGeom>
          <a:noFill/>
          <a:ln/>
        </p:spPr>
        <p:txBody>
          <a:bodyPr wrap="square" lIns="0" tIns="0" rIns="0" bIns="0" rtlCol="0" anchor="t">
            <a:normAutofit/>
          </a:bodyPr>
          <a:lstStyle/>
          <a:p>
            <a:pPr marL="0" indent="0" algn="ctr">
              <a:lnSpc>
                <a:spcPct val="104000"/>
              </a:lnSpc>
              <a:buNone/>
            </a:pPr>
            <a:r>
              <a:rPr lang="en-US" sz="600" dirty="0">
                <a:solidFill>
                  <a:srgbClr val="272525"/>
                </a:solidFill>
                <a:latin typeface="Inter" pitchFamily="34" charset="0"/>
                <a:ea typeface="Inter" pitchFamily="34" charset="-122"/>
                <a:cs typeface="Inter" pitchFamily="34" charset="-120"/>
              </a:rPr>
              <a:t>Launch of interactive dashboards</a:t>
            </a:r>
            <a:endParaRPr lang="en-US" sz="600" dirty="0"/>
          </a:p>
        </p:txBody>
      </p:sp>
      <p:sp>
        <p:nvSpPr>
          <p:cNvPr id="14" name="Text 10"/>
          <p:cNvSpPr/>
          <p:nvPr/>
        </p:nvSpPr>
        <p:spPr>
          <a:xfrm>
            <a:off x="3925119" y="4234979"/>
            <a:ext cx="4722763" cy="453628"/>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highlight>
                  <a:srgbClr val="C0C0C0"/>
                </a:highlight>
                <a:latin typeface="Inter" pitchFamily="34" charset="0"/>
                <a:ea typeface="Inter" pitchFamily="34" charset="-122"/>
                <a:cs typeface="Inter" pitchFamily="34" charset="-120"/>
              </a:rPr>
              <a:t>Cette trajectoire illustre l'expansion fonctionnelle et l'adoption par des équipes professionnelles au fil des années.</a:t>
            </a:r>
            <a:endParaRPr lang="en-US" sz="1100" dirty="0">
              <a:highlight>
                <a:srgbClr val="C0C0C0"/>
              </a:highlight>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465162" y="491133"/>
            <a:ext cx="4839370" cy="415305"/>
          </a:xfrm>
          <a:prstGeom prst="rect">
            <a:avLst/>
          </a:prstGeom>
          <a:noFill/>
          <a:ln/>
        </p:spPr>
        <p:txBody>
          <a:bodyPr wrap="none" lIns="0" tIns="0" rIns="0" bIns="0" rtlCol="0" anchor="t"/>
          <a:lstStyle/>
          <a:p>
            <a:pPr marL="0" indent="0" algn="l">
              <a:lnSpc>
                <a:spcPct val="104000"/>
              </a:lnSpc>
              <a:buNone/>
            </a:pPr>
            <a:r>
              <a:rPr lang="en-US" sz="2600" b="1" dirty="0">
                <a:solidFill>
                  <a:srgbClr val="000000"/>
                </a:solidFill>
                <a:latin typeface="Inter Bold" pitchFamily="34" charset="0"/>
                <a:ea typeface="Inter Bold" pitchFamily="34" charset="-122"/>
                <a:cs typeface="Inter Bold" pitchFamily="34" charset="-120"/>
              </a:rPr>
              <a:t>Fonctionnalités principales</a:t>
            </a:r>
            <a:endParaRPr lang="en-US" sz="2600" dirty="0"/>
          </a:p>
        </p:txBody>
      </p:sp>
      <p:pic>
        <p:nvPicPr>
          <p:cNvPr id="3" name="Image 0" descr="preencoded.png"/>
          <p:cNvPicPr>
            <a:picLocks noChangeAspect="1"/>
          </p:cNvPicPr>
          <p:nvPr/>
        </p:nvPicPr>
        <p:blipFill>
          <a:blip r:embed="rId3"/>
          <a:stretch>
            <a:fillRect/>
          </a:stretch>
        </p:blipFill>
        <p:spPr>
          <a:xfrm>
            <a:off x="465162" y="1155576"/>
            <a:ext cx="561529" cy="561529"/>
          </a:xfrm>
          <a:prstGeom prst="rect">
            <a:avLst/>
          </a:prstGeom>
        </p:spPr>
      </p:pic>
      <p:sp>
        <p:nvSpPr>
          <p:cNvPr id="4" name="Text 1"/>
          <p:cNvSpPr/>
          <p:nvPr/>
        </p:nvSpPr>
        <p:spPr>
          <a:xfrm>
            <a:off x="1182439" y="1155576"/>
            <a:ext cx="1219274" cy="415379"/>
          </a:xfrm>
          <a:prstGeom prst="rect">
            <a:avLst/>
          </a:prstGeom>
          <a:noFill/>
          <a:ln/>
        </p:spPr>
        <p:txBody>
          <a:bodyPr wrap="square" lIns="0" tIns="0" rIns="0" bIns="0" rtlCol="0" anchor="t">
            <a:normAutofit/>
          </a:bodyPr>
          <a:lstStyle/>
          <a:p>
            <a:pPr marL="0" indent="0" algn="l">
              <a:lnSpc>
                <a:spcPct val="104000"/>
              </a:lnSpc>
              <a:buNone/>
            </a:pPr>
            <a:r>
              <a:rPr lang="en-US" sz="1300" b="1" dirty="0">
                <a:solidFill>
                  <a:srgbClr val="272525"/>
                </a:solidFill>
                <a:latin typeface="Inter Bold" pitchFamily="34" charset="0"/>
                <a:ea typeface="Inter Bold" pitchFamily="34" charset="-122"/>
                <a:cs typeface="Inter Bold" pitchFamily="34" charset="-120"/>
              </a:rPr>
              <a:t>Création de présentations</a:t>
            </a:r>
            <a:endParaRPr lang="en-US" sz="1300" dirty="0"/>
          </a:p>
        </p:txBody>
      </p:sp>
      <p:sp>
        <p:nvSpPr>
          <p:cNvPr id="5" name="Text 2"/>
          <p:cNvSpPr/>
          <p:nvPr/>
        </p:nvSpPr>
        <p:spPr>
          <a:xfrm>
            <a:off x="1182439" y="1645667"/>
            <a:ext cx="1219274" cy="1029891"/>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Templates professionnels, animations et transitions faciles à configurer.</a:t>
            </a:r>
            <a:endParaRPr lang="en-US" sz="1000" dirty="0"/>
          </a:p>
        </p:txBody>
      </p:sp>
      <p:pic>
        <p:nvPicPr>
          <p:cNvPr id="6" name="Image 1" descr="preencoded.png"/>
          <p:cNvPicPr>
            <a:picLocks noChangeAspect="1"/>
          </p:cNvPicPr>
          <p:nvPr/>
        </p:nvPicPr>
        <p:blipFill>
          <a:blip r:embed="rId4"/>
          <a:stretch>
            <a:fillRect/>
          </a:stretch>
        </p:blipFill>
        <p:spPr>
          <a:xfrm>
            <a:off x="2557463" y="1155576"/>
            <a:ext cx="561603" cy="561603"/>
          </a:xfrm>
          <a:prstGeom prst="rect">
            <a:avLst/>
          </a:prstGeom>
        </p:spPr>
      </p:pic>
      <p:sp>
        <p:nvSpPr>
          <p:cNvPr id="7" name="Text 3"/>
          <p:cNvSpPr/>
          <p:nvPr/>
        </p:nvSpPr>
        <p:spPr>
          <a:xfrm>
            <a:off x="3274814" y="1155576"/>
            <a:ext cx="1219274" cy="207690"/>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latin typeface="Inter Bold" pitchFamily="34" charset="0"/>
                <a:ea typeface="Inter Bold" pitchFamily="34" charset="-122"/>
                <a:cs typeface="Inter Bold" pitchFamily="34" charset="-120"/>
              </a:rPr>
              <a:t>Infographies</a:t>
            </a:r>
            <a:endParaRPr lang="en-US" sz="1300" dirty="0"/>
          </a:p>
        </p:txBody>
      </p:sp>
      <p:sp>
        <p:nvSpPr>
          <p:cNvPr id="8" name="Text 4"/>
          <p:cNvSpPr/>
          <p:nvPr/>
        </p:nvSpPr>
        <p:spPr>
          <a:xfrm>
            <a:off x="3274814" y="1437977"/>
            <a:ext cx="1219274" cy="1029891"/>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Outils dédiés pour visualiser processus, cycles et données complexes.</a:t>
            </a:r>
            <a:endParaRPr lang="en-US" sz="1000" dirty="0"/>
          </a:p>
        </p:txBody>
      </p:sp>
      <p:pic>
        <p:nvPicPr>
          <p:cNvPr id="9" name="Image 2" descr="preencoded.png"/>
          <p:cNvPicPr>
            <a:picLocks noChangeAspect="1"/>
          </p:cNvPicPr>
          <p:nvPr/>
        </p:nvPicPr>
        <p:blipFill>
          <a:blip r:embed="rId5"/>
          <a:stretch>
            <a:fillRect/>
          </a:stretch>
        </p:blipFill>
        <p:spPr>
          <a:xfrm>
            <a:off x="4649837" y="1155576"/>
            <a:ext cx="561603" cy="561603"/>
          </a:xfrm>
          <a:prstGeom prst="rect">
            <a:avLst/>
          </a:prstGeom>
        </p:spPr>
      </p:pic>
      <p:sp>
        <p:nvSpPr>
          <p:cNvPr id="10" name="Text 5"/>
          <p:cNvSpPr/>
          <p:nvPr/>
        </p:nvSpPr>
        <p:spPr>
          <a:xfrm>
            <a:off x="5367189" y="1155576"/>
            <a:ext cx="1219274" cy="415379"/>
          </a:xfrm>
          <a:prstGeom prst="rect">
            <a:avLst/>
          </a:prstGeom>
          <a:noFill/>
          <a:ln/>
        </p:spPr>
        <p:txBody>
          <a:bodyPr wrap="square" lIns="0" tIns="0" rIns="0" bIns="0" rtlCol="0" anchor="t">
            <a:normAutofit/>
          </a:bodyPr>
          <a:lstStyle/>
          <a:p>
            <a:pPr marL="0" indent="0" algn="l">
              <a:lnSpc>
                <a:spcPct val="104000"/>
              </a:lnSpc>
              <a:buNone/>
            </a:pPr>
            <a:r>
              <a:rPr lang="en-US" sz="1300" b="1" dirty="0">
                <a:solidFill>
                  <a:srgbClr val="272525"/>
                </a:solidFill>
                <a:latin typeface="Inter Bold" pitchFamily="34" charset="0"/>
                <a:ea typeface="Inter Bold" pitchFamily="34" charset="-122"/>
                <a:cs typeface="Inter Bold" pitchFamily="34" charset="-120"/>
              </a:rPr>
              <a:t>Rapports professionnels</a:t>
            </a:r>
            <a:endParaRPr lang="en-US" sz="1300" dirty="0"/>
          </a:p>
        </p:txBody>
      </p:sp>
      <p:sp>
        <p:nvSpPr>
          <p:cNvPr id="11" name="Text 6"/>
          <p:cNvSpPr/>
          <p:nvPr/>
        </p:nvSpPr>
        <p:spPr>
          <a:xfrm>
            <a:off x="5367189" y="1645667"/>
            <a:ext cx="1219274" cy="1029891"/>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Mise en page exportable, export PDF haute qualité et branding personnalisé.</a:t>
            </a:r>
            <a:endParaRPr lang="en-US" sz="1000" dirty="0"/>
          </a:p>
        </p:txBody>
      </p:sp>
      <p:pic>
        <p:nvPicPr>
          <p:cNvPr id="12" name="Image 3" descr="preencoded.png"/>
          <p:cNvPicPr>
            <a:picLocks noChangeAspect="1"/>
          </p:cNvPicPr>
          <p:nvPr/>
        </p:nvPicPr>
        <p:blipFill>
          <a:blip r:embed="rId6"/>
          <a:stretch>
            <a:fillRect/>
          </a:stretch>
        </p:blipFill>
        <p:spPr>
          <a:xfrm>
            <a:off x="6742212" y="1155576"/>
            <a:ext cx="561603" cy="561603"/>
          </a:xfrm>
          <a:prstGeom prst="rect">
            <a:avLst/>
          </a:prstGeom>
        </p:spPr>
      </p:pic>
      <p:sp>
        <p:nvSpPr>
          <p:cNvPr id="13" name="Text 7"/>
          <p:cNvSpPr/>
          <p:nvPr/>
        </p:nvSpPr>
        <p:spPr>
          <a:xfrm>
            <a:off x="7459563" y="1155576"/>
            <a:ext cx="1219274" cy="623069"/>
          </a:xfrm>
          <a:prstGeom prst="rect">
            <a:avLst/>
          </a:prstGeom>
          <a:noFill/>
          <a:ln/>
        </p:spPr>
        <p:txBody>
          <a:bodyPr wrap="square" lIns="0" tIns="0" rIns="0" bIns="0" rtlCol="0" anchor="t">
            <a:normAutofit/>
          </a:bodyPr>
          <a:lstStyle/>
          <a:p>
            <a:pPr marL="0" indent="0" algn="l">
              <a:lnSpc>
                <a:spcPct val="104000"/>
              </a:lnSpc>
              <a:buNone/>
            </a:pPr>
            <a:r>
              <a:rPr lang="en-US" sz="1300" b="1" dirty="0">
                <a:solidFill>
                  <a:srgbClr val="272525"/>
                </a:solidFill>
                <a:latin typeface="Inter Bold" pitchFamily="34" charset="0"/>
                <a:ea typeface="Inter Bold" pitchFamily="34" charset="-122"/>
                <a:cs typeface="Inter Bold" pitchFamily="34" charset="-120"/>
              </a:rPr>
              <a:t>Contenus réseaux sociaux</a:t>
            </a:r>
            <a:endParaRPr lang="en-US" sz="1300" dirty="0"/>
          </a:p>
        </p:txBody>
      </p:sp>
      <p:sp>
        <p:nvSpPr>
          <p:cNvPr id="14" name="Text 8"/>
          <p:cNvSpPr/>
          <p:nvPr/>
        </p:nvSpPr>
        <p:spPr>
          <a:xfrm>
            <a:off x="7459563" y="1853357"/>
            <a:ext cx="1219274" cy="1029891"/>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Formats optimisés, bibliothèques d'assets et animations courtes.</a:t>
            </a:r>
            <a:endParaRPr lang="en-US" sz="1000" dirty="0"/>
          </a:p>
        </p:txBody>
      </p:sp>
      <p:pic>
        <p:nvPicPr>
          <p:cNvPr id="15" name="Image 4" descr="preencoded.png"/>
          <p:cNvPicPr>
            <a:picLocks noChangeAspect="1"/>
          </p:cNvPicPr>
          <p:nvPr/>
        </p:nvPicPr>
        <p:blipFill>
          <a:blip r:embed="rId7"/>
          <a:stretch>
            <a:fillRect/>
          </a:stretch>
        </p:blipFill>
        <p:spPr>
          <a:xfrm>
            <a:off x="465162" y="3132386"/>
            <a:ext cx="561529" cy="561529"/>
          </a:xfrm>
          <a:prstGeom prst="rect">
            <a:avLst/>
          </a:prstGeom>
        </p:spPr>
      </p:pic>
      <p:sp>
        <p:nvSpPr>
          <p:cNvPr id="16" name="Text 9"/>
          <p:cNvSpPr/>
          <p:nvPr/>
        </p:nvSpPr>
        <p:spPr>
          <a:xfrm>
            <a:off x="1182439" y="3132386"/>
            <a:ext cx="1219274" cy="415379"/>
          </a:xfrm>
          <a:prstGeom prst="rect">
            <a:avLst/>
          </a:prstGeom>
          <a:noFill/>
          <a:ln/>
        </p:spPr>
        <p:txBody>
          <a:bodyPr wrap="square" lIns="0" tIns="0" rIns="0" bIns="0" rtlCol="0" anchor="t">
            <a:normAutofit/>
          </a:bodyPr>
          <a:lstStyle/>
          <a:p>
            <a:pPr marL="0" indent="0" algn="l">
              <a:lnSpc>
                <a:spcPct val="104000"/>
              </a:lnSpc>
              <a:buNone/>
            </a:pPr>
            <a:r>
              <a:rPr lang="en-US" sz="1300" b="1" dirty="0">
                <a:solidFill>
                  <a:srgbClr val="272525"/>
                </a:solidFill>
                <a:latin typeface="Inter Bold" pitchFamily="34" charset="0"/>
                <a:ea typeface="Inter Bold" pitchFamily="34" charset="-122"/>
                <a:cs typeface="Inter Bold" pitchFamily="34" charset="-120"/>
              </a:rPr>
              <a:t>Visualisation de données</a:t>
            </a:r>
            <a:endParaRPr lang="en-US" sz="1300" dirty="0"/>
          </a:p>
        </p:txBody>
      </p:sp>
      <p:sp>
        <p:nvSpPr>
          <p:cNvPr id="17" name="Text 10"/>
          <p:cNvSpPr/>
          <p:nvPr/>
        </p:nvSpPr>
        <p:spPr>
          <a:xfrm>
            <a:off x="1182439" y="3622477"/>
            <a:ext cx="1219274" cy="1029891"/>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Graphiques interactifs, widgets et intégrations de données pour tableaux de bord.</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465162" y="373633"/>
            <a:ext cx="3779862" cy="415305"/>
          </a:xfrm>
          <a:prstGeom prst="rect">
            <a:avLst/>
          </a:prstGeom>
          <a:noFill/>
          <a:ln/>
        </p:spPr>
        <p:txBody>
          <a:bodyPr wrap="none" lIns="0" tIns="0" rIns="0" bIns="0" rtlCol="0" anchor="t"/>
          <a:lstStyle/>
          <a:p>
            <a:pPr marL="0" indent="0" algn="l">
              <a:lnSpc>
                <a:spcPct val="104000"/>
              </a:lnSpc>
              <a:buNone/>
            </a:pPr>
            <a:r>
              <a:rPr lang="en-US" sz="2600" b="1" dirty="0">
                <a:solidFill>
                  <a:srgbClr val="000000"/>
                </a:solidFill>
                <a:latin typeface="Inter Bold" pitchFamily="34" charset="0"/>
                <a:ea typeface="Inter Bold" pitchFamily="34" charset="-122"/>
                <a:cs typeface="Inter Bold" pitchFamily="34" charset="-120"/>
              </a:rPr>
              <a:t>Avantages de Visme</a:t>
            </a:r>
            <a:endParaRPr lang="en-US" sz="2600" dirty="0"/>
          </a:p>
        </p:txBody>
      </p:sp>
      <p:pic>
        <p:nvPicPr>
          <p:cNvPr id="3" name="Image 0" descr="preencoded.png"/>
          <p:cNvPicPr>
            <a:picLocks noChangeAspect="1"/>
          </p:cNvPicPr>
          <p:nvPr/>
        </p:nvPicPr>
        <p:blipFill>
          <a:blip r:embed="rId3"/>
          <a:stretch>
            <a:fillRect/>
          </a:stretch>
        </p:blipFill>
        <p:spPr>
          <a:xfrm>
            <a:off x="465162" y="1997050"/>
            <a:ext cx="3090937" cy="1751484"/>
          </a:xfrm>
          <a:prstGeom prst="rect">
            <a:avLst/>
          </a:prstGeom>
        </p:spPr>
      </p:pic>
      <p:sp>
        <p:nvSpPr>
          <p:cNvPr id="4" name="Shape 1"/>
          <p:cNvSpPr/>
          <p:nvPr/>
        </p:nvSpPr>
        <p:spPr>
          <a:xfrm>
            <a:off x="3885009" y="1115913"/>
            <a:ext cx="2336974" cy="1225525"/>
          </a:xfrm>
          <a:prstGeom prst="roundRect">
            <a:avLst>
              <a:gd name="adj" fmla="val 4555"/>
            </a:avLst>
          </a:prstGeom>
          <a:solidFill>
            <a:srgbClr val="DADBF1"/>
          </a:solidFill>
          <a:ln w="4763">
            <a:solidFill>
              <a:srgbClr val="C0C1D7"/>
            </a:solidFill>
            <a:prstDash val="solid"/>
          </a:ln>
        </p:spPr>
      </p:sp>
      <p:sp>
        <p:nvSpPr>
          <p:cNvPr id="5" name="Text 2"/>
          <p:cNvSpPr/>
          <p:nvPr/>
        </p:nvSpPr>
        <p:spPr>
          <a:xfrm>
            <a:off x="4022675" y="1253579"/>
            <a:ext cx="1661294" cy="207690"/>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latin typeface="Inter Bold" pitchFamily="34" charset="0"/>
                <a:ea typeface="Inter Bold" pitchFamily="34" charset="-122"/>
                <a:cs typeface="Inter Bold" pitchFamily="34" charset="-120"/>
              </a:rPr>
              <a:t>Interface intuitive</a:t>
            </a:r>
            <a:endParaRPr lang="en-US" sz="1300" dirty="0"/>
          </a:p>
        </p:txBody>
      </p:sp>
      <p:sp>
        <p:nvSpPr>
          <p:cNvPr id="6" name="Text 3"/>
          <p:cNvSpPr/>
          <p:nvPr/>
        </p:nvSpPr>
        <p:spPr>
          <a:xfrm>
            <a:off x="4022675" y="1585838"/>
            <a:ext cx="2061642" cy="411956"/>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Glisser-déposer, barres d'outils claires, apprentissage rapide.</a:t>
            </a:r>
            <a:endParaRPr lang="en-US" sz="1000" dirty="0"/>
          </a:p>
        </p:txBody>
      </p:sp>
      <p:sp>
        <p:nvSpPr>
          <p:cNvPr id="7" name="Shape 4"/>
          <p:cNvSpPr/>
          <p:nvPr/>
        </p:nvSpPr>
        <p:spPr>
          <a:xfrm>
            <a:off x="6346552" y="1115913"/>
            <a:ext cx="2336974" cy="1225525"/>
          </a:xfrm>
          <a:prstGeom prst="roundRect">
            <a:avLst>
              <a:gd name="adj" fmla="val 4555"/>
            </a:avLst>
          </a:prstGeom>
          <a:solidFill>
            <a:srgbClr val="DADBF1"/>
          </a:solidFill>
          <a:ln w="4763">
            <a:solidFill>
              <a:srgbClr val="C0C1D7"/>
            </a:solidFill>
            <a:prstDash val="solid"/>
          </a:ln>
        </p:spPr>
      </p:sp>
      <p:sp>
        <p:nvSpPr>
          <p:cNvPr id="8" name="Text 5"/>
          <p:cNvSpPr/>
          <p:nvPr/>
        </p:nvSpPr>
        <p:spPr>
          <a:xfrm>
            <a:off x="6484218" y="1253579"/>
            <a:ext cx="1661294" cy="207690"/>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latin typeface="Inter Bold" pitchFamily="34" charset="0"/>
                <a:ea typeface="Inter Bold" pitchFamily="34" charset="-122"/>
                <a:cs typeface="Inter Bold" pitchFamily="34" charset="-120"/>
              </a:rPr>
              <a:t>Facilité d'utilisation</a:t>
            </a:r>
            <a:endParaRPr lang="en-US" sz="1300" dirty="0"/>
          </a:p>
        </p:txBody>
      </p:sp>
      <p:sp>
        <p:nvSpPr>
          <p:cNvPr id="9" name="Text 6"/>
          <p:cNvSpPr/>
          <p:nvPr/>
        </p:nvSpPr>
        <p:spPr>
          <a:xfrm>
            <a:off x="6484218" y="1585838"/>
            <a:ext cx="2061642" cy="617934"/>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Templates préconçus et ajustements rapides pour gagner du temps.</a:t>
            </a:r>
            <a:endParaRPr lang="en-US" sz="1000" dirty="0"/>
          </a:p>
        </p:txBody>
      </p:sp>
      <p:sp>
        <p:nvSpPr>
          <p:cNvPr id="10" name="Shape 7"/>
          <p:cNvSpPr/>
          <p:nvPr/>
        </p:nvSpPr>
        <p:spPr>
          <a:xfrm>
            <a:off x="3885009" y="2466008"/>
            <a:ext cx="2336974" cy="1225525"/>
          </a:xfrm>
          <a:prstGeom prst="roundRect">
            <a:avLst>
              <a:gd name="adj" fmla="val 4555"/>
            </a:avLst>
          </a:prstGeom>
          <a:solidFill>
            <a:srgbClr val="DADBF1"/>
          </a:solidFill>
          <a:ln w="4763">
            <a:solidFill>
              <a:srgbClr val="C0C1D7"/>
            </a:solidFill>
            <a:prstDash val="solid"/>
          </a:ln>
        </p:spPr>
      </p:sp>
      <p:sp>
        <p:nvSpPr>
          <p:cNvPr id="11" name="Text 8"/>
          <p:cNvSpPr/>
          <p:nvPr/>
        </p:nvSpPr>
        <p:spPr>
          <a:xfrm>
            <a:off x="4022675" y="2603674"/>
            <a:ext cx="1661294" cy="207690"/>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latin typeface="Inter Bold" pitchFamily="34" charset="0"/>
                <a:ea typeface="Inter Bold" pitchFamily="34" charset="-122"/>
                <a:cs typeface="Inter Bold" pitchFamily="34" charset="-120"/>
              </a:rPr>
              <a:t>Large bibliothèque</a:t>
            </a:r>
            <a:endParaRPr lang="en-US" sz="1300" dirty="0"/>
          </a:p>
        </p:txBody>
      </p:sp>
      <p:sp>
        <p:nvSpPr>
          <p:cNvPr id="12" name="Text 9"/>
          <p:cNvSpPr/>
          <p:nvPr/>
        </p:nvSpPr>
        <p:spPr>
          <a:xfrm>
            <a:off x="4022675" y="2935932"/>
            <a:ext cx="2061642" cy="617934"/>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Images, icônes, polices et templates pour différents usages.</a:t>
            </a:r>
            <a:endParaRPr lang="en-US" sz="1000" dirty="0"/>
          </a:p>
        </p:txBody>
      </p:sp>
      <p:sp>
        <p:nvSpPr>
          <p:cNvPr id="13" name="Shape 10"/>
          <p:cNvSpPr/>
          <p:nvPr/>
        </p:nvSpPr>
        <p:spPr>
          <a:xfrm>
            <a:off x="6346552" y="2466008"/>
            <a:ext cx="2336974" cy="1225525"/>
          </a:xfrm>
          <a:prstGeom prst="roundRect">
            <a:avLst>
              <a:gd name="adj" fmla="val 4555"/>
            </a:avLst>
          </a:prstGeom>
          <a:solidFill>
            <a:srgbClr val="DADBF1"/>
          </a:solidFill>
          <a:ln w="4763">
            <a:solidFill>
              <a:srgbClr val="C0C1D7"/>
            </a:solidFill>
            <a:prstDash val="solid"/>
          </a:ln>
        </p:spPr>
      </p:sp>
      <p:sp>
        <p:nvSpPr>
          <p:cNvPr id="14" name="Text 11"/>
          <p:cNvSpPr/>
          <p:nvPr/>
        </p:nvSpPr>
        <p:spPr>
          <a:xfrm>
            <a:off x="6484218" y="2603674"/>
            <a:ext cx="1927399" cy="207690"/>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latin typeface="Inter Bold" pitchFamily="34" charset="0"/>
                <a:ea typeface="Inter Bold" pitchFamily="34" charset="-122"/>
                <a:cs typeface="Inter Bold" pitchFamily="34" charset="-120"/>
              </a:rPr>
              <a:t>Collaboration en équipe</a:t>
            </a:r>
            <a:endParaRPr lang="en-US" sz="1300" dirty="0"/>
          </a:p>
        </p:txBody>
      </p:sp>
      <p:sp>
        <p:nvSpPr>
          <p:cNvPr id="15" name="Text 12"/>
          <p:cNvSpPr/>
          <p:nvPr/>
        </p:nvSpPr>
        <p:spPr>
          <a:xfrm>
            <a:off x="6484218" y="2935932"/>
            <a:ext cx="2061642" cy="617934"/>
          </a:xfrm>
          <a:prstGeom prst="rect">
            <a:avLst/>
          </a:prstGeom>
          <a:noFill/>
          <a:ln/>
        </p:spPr>
        <p:txBody>
          <a:bodyPr wrap="square" lIns="0" tIns="0" rIns="0" bIns="0" rtlCol="0" anchor="t">
            <a:normAutofit/>
          </a:bodyPr>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Partage de projets, commentaires et gestion des droits.</a:t>
            </a:r>
            <a:endParaRPr lang="en-US" sz="1000" dirty="0"/>
          </a:p>
        </p:txBody>
      </p:sp>
      <p:sp>
        <p:nvSpPr>
          <p:cNvPr id="16" name="Shape 13"/>
          <p:cNvSpPr/>
          <p:nvPr/>
        </p:nvSpPr>
        <p:spPr>
          <a:xfrm>
            <a:off x="3885009" y="3816102"/>
            <a:ext cx="4798516" cy="813569"/>
          </a:xfrm>
          <a:prstGeom prst="roundRect">
            <a:avLst>
              <a:gd name="adj" fmla="val 6861"/>
            </a:avLst>
          </a:prstGeom>
          <a:solidFill>
            <a:srgbClr val="DADBF1"/>
          </a:solidFill>
          <a:ln w="4763">
            <a:solidFill>
              <a:srgbClr val="C0C1D7"/>
            </a:solidFill>
            <a:prstDash val="solid"/>
          </a:ln>
        </p:spPr>
      </p:sp>
      <p:sp>
        <p:nvSpPr>
          <p:cNvPr id="17" name="Text 14"/>
          <p:cNvSpPr/>
          <p:nvPr/>
        </p:nvSpPr>
        <p:spPr>
          <a:xfrm>
            <a:off x="4022675" y="3953768"/>
            <a:ext cx="1661294" cy="207690"/>
          </a:xfrm>
          <a:prstGeom prst="rect">
            <a:avLst/>
          </a:prstGeom>
          <a:noFill/>
          <a:ln/>
        </p:spPr>
        <p:txBody>
          <a:bodyPr wrap="none" lIns="0" tIns="0" rIns="0" bIns="0" rtlCol="0" anchor="t"/>
          <a:lstStyle/>
          <a:p>
            <a:pPr marL="0" indent="0" algn="l">
              <a:lnSpc>
                <a:spcPct val="104000"/>
              </a:lnSpc>
              <a:buNone/>
            </a:pPr>
            <a:r>
              <a:rPr lang="en-US" sz="1300" b="1" dirty="0">
                <a:solidFill>
                  <a:srgbClr val="272525"/>
                </a:solidFill>
                <a:latin typeface="Inter Bold" pitchFamily="34" charset="0"/>
                <a:ea typeface="Inter Bold" pitchFamily="34" charset="-122"/>
                <a:cs typeface="Inter Bold" pitchFamily="34" charset="-120"/>
              </a:rPr>
              <a:t>Gain de temps</a:t>
            </a:r>
            <a:endParaRPr lang="en-US" sz="1300" dirty="0"/>
          </a:p>
        </p:txBody>
      </p:sp>
      <p:sp>
        <p:nvSpPr>
          <p:cNvPr id="18" name="Text 15"/>
          <p:cNvSpPr/>
          <p:nvPr/>
        </p:nvSpPr>
        <p:spPr>
          <a:xfrm>
            <a:off x="4022675" y="4286027"/>
            <a:ext cx="4523184" cy="205978"/>
          </a:xfrm>
          <a:prstGeom prst="rect">
            <a:avLst/>
          </a:prstGeom>
          <a:noFill/>
          <a:ln/>
        </p:spPr>
        <p:txBody>
          <a:bodyPr wrap="none" lIns="0" tIns="0" rIns="0" bIns="0" rtlCol="0" anchor="t"/>
          <a:lstStyle/>
          <a:p>
            <a:pPr marL="0" indent="0" algn="l">
              <a:lnSpc>
                <a:spcPct val="129000"/>
              </a:lnSpc>
              <a:buNone/>
            </a:pPr>
            <a:r>
              <a:rPr lang="en-US" sz="1000" dirty="0">
                <a:solidFill>
                  <a:srgbClr val="272525"/>
                </a:solidFill>
                <a:latin typeface="Inter" pitchFamily="34" charset="0"/>
                <a:ea typeface="Inter" pitchFamily="34" charset="-122"/>
                <a:cs typeface="Inter" pitchFamily="34" charset="-120"/>
              </a:rPr>
              <a:t>Automatisation basique et assets réutilisables accélèrent la production.</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496119" y="969020"/>
            <a:ext cx="4096717" cy="442987"/>
          </a:xfrm>
          <a:prstGeom prst="rect">
            <a:avLst/>
          </a:prstGeom>
          <a:noFill/>
          <a:ln/>
        </p:spPr>
        <p:txBody>
          <a:bodyPr wrap="none" lIns="0" tIns="0" rIns="0" bIns="0" rtlCol="0" anchor="t"/>
          <a:lstStyle/>
          <a:p>
            <a:pPr marL="0" indent="0" algn="l">
              <a:lnSpc>
                <a:spcPct val="104000"/>
              </a:lnSpc>
              <a:buNone/>
            </a:pPr>
            <a:r>
              <a:rPr lang="en-US" sz="2750" b="1" dirty="0">
                <a:solidFill>
                  <a:srgbClr val="000000"/>
                </a:solidFill>
                <a:latin typeface="Inter Bold" pitchFamily="34" charset="0"/>
                <a:ea typeface="Inter Bold" pitchFamily="34" charset="-122"/>
                <a:cs typeface="Inter Bold" pitchFamily="34" charset="-120"/>
              </a:rPr>
              <a:t>Utilisations de Visme</a:t>
            </a:r>
            <a:endParaRPr lang="en-US" sz="2750" dirty="0"/>
          </a:p>
        </p:txBody>
      </p:sp>
      <p:pic>
        <p:nvPicPr>
          <p:cNvPr id="3"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96119" y="1695524"/>
            <a:ext cx="354360" cy="354360"/>
          </a:xfrm>
          <a:prstGeom prst="rect">
            <a:avLst/>
          </a:prstGeom>
        </p:spPr>
      </p:pic>
      <p:sp>
        <p:nvSpPr>
          <p:cNvPr id="4" name="Text 1"/>
          <p:cNvSpPr/>
          <p:nvPr/>
        </p:nvSpPr>
        <p:spPr>
          <a:xfrm>
            <a:off x="1027658" y="1695524"/>
            <a:ext cx="1772022" cy="221456"/>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Inter Bold" pitchFamily="34" charset="0"/>
                <a:ea typeface="Inter Bold" pitchFamily="34" charset="-122"/>
                <a:cs typeface="Inter Bold" pitchFamily="34" charset="-120"/>
              </a:rPr>
              <a:t>Éducation</a:t>
            </a:r>
            <a:endParaRPr lang="en-US" sz="1350" dirty="0"/>
          </a:p>
        </p:txBody>
      </p:sp>
      <p:sp>
        <p:nvSpPr>
          <p:cNvPr id="5" name="Text 2"/>
          <p:cNvSpPr/>
          <p:nvPr/>
        </p:nvSpPr>
        <p:spPr>
          <a:xfrm>
            <a:off x="1027658" y="2002036"/>
            <a:ext cx="2067595"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Supports pédagogiques interactifs et visuels pour enseignants et formateurs.</a:t>
            </a:r>
            <a:endParaRPr lang="en-US" sz="1100" dirty="0"/>
          </a:p>
        </p:txBody>
      </p:sp>
      <p:pic>
        <p:nvPicPr>
          <p:cNvPr id="6"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272433" y="1695524"/>
            <a:ext cx="354360" cy="354360"/>
          </a:xfrm>
          <a:prstGeom prst="rect">
            <a:avLst/>
          </a:prstGeom>
        </p:spPr>
      </p:pic>
      <p:sp>
        <p:nvSpPr>
          <p:cNvPr id="7" name="Text 3"/>
          <p:cNvSpPr/>
          <p:nvPr/>
        </p:nvSpPr>
        <p:spPr>
          <a:xfrm>
            <a:off x="3803972" y="1695524"/>
            <a:ext cx="2067595" cy="442913"/>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272525"/>
                </a:solidFill>
                <a:latin typeface="Inter Bold" pitchFamily="34" charset="0"/>
                <a:ea typeface="Inter Bold" pitchFamily="34" charset="-122"/>
                <a:cs typeface="Inter Bold" pitchFamily="34" charset="-120"/>
              </a:rPr>
              <a:t>Entreprises &amp; Marketing</a:t>
            </a:r>
            <a:endParaRPr lang="en-US" sz="1350" dirty="0"/>
          </a:p>
        </p:txBody>
      </p:sp>
      <p:sp>
        <p:nvSpPr>
          <p:cNvPr id="8" name="Text 4"/>
          <p:cNvSpPr/>
          <p:nvPr/>
        </p:nvSpPr>
        <p:spPr>
          <a:xfrm>
            <a:off x="3803972" y="2223492"/>
            <a:ext cx="2067595"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Campagnes visuelles, présentations commerciales et supports client.</a:t>
            </a:r>
            <a:endParaRPr lang="en-US" sz="1100" dirty="0"/>
          </a:p>
        </p:txBody>
      </p:sp>
      <p:pic>
        <p:nvPicPr>
          <p:cNvPr id="9"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048747" y="1695524"/>
            <a:ext cx="354360" cy="354360"/>
          </a:xfrm>
          <a:prstGeom prst="rect">
            <a:avLst/>
          </a:prstGeom>
        </p:spPr>
      </p:pic>
      <p:sp>
        <p:nvSpPr>
          <p:cNvPr id="10" name="Text 5"/>
          <p:cNvSpPr/>
          <p:nvPr/>
        </p:nvSpPr>
        <p:spPr>
          <a:xfrm>
            <a:off x="6580287" y="1695524"/>
            <a:ext cx="2067595" cy="442913"/>
          </a:xfrm>
          <a:prstGeom prst="rect">
            <a:avLst/>
          </a:prstGeom>
          <a:noFill/>
          <a:ln/>
        </p:spPr>
        <p:txBody>
          <a:bodyPr wrap="square" lIns="0" tIns="0" rIns="0" bIns="0" rtlCol="0" anchor="t">
            <a:normAutofit/>
          </a:bodyPr>
          <a:lstStyle/>
          <a:p>
            <a:pPr marL="0" indent="0" algn="l">
              <a:lnSpc>
                <a:spcPct val="104000"/>
              </a:lnSpc>
              <a:buNone/>
            </a:pPr>
            <a:r>
              <a:rPr lang="en-US" sz="1350" b="1" dirty="0">
                <a:solidFill>
                  <a:srgbClr val="272525"/>
                </a:solidFill>
                <a:latin typeface="Inter Bold" pitchFamily="34" charset="0"/>
                <a:ea typeface="Inter Bold" pitchFamily="34" charset="-122"/>
                <a:cs typeface="Inter Bold" pitchFamily="34" charset="-120"/>
              </a:rPr>
              <a:t>Communication professionnelle</a:t>
            </a:r>
            <a:endParaRPr lang="en-US" sz="1350" dirty="0"/>
          </a:p>
        </p:txBody>
      </p:sp>
      <p:sp>
        <p:nvSpPr>
          <p:cNvPr id="11" name="Text 6"/>
          <p:cNvSpPr/>
          <p:nvPr/>
        </p:nvSpPr>
        <p:spPr>
          <a:xfrm>
            <a:off x="6580287" y="2223492"/>
            <a:ext cx="2067595"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Rapports, bilans et communications internes élégantes.</a:t>
            </a:r>
            <a:endParaRPr lang="en-US" sz="1100" dirty="0"/>
          </a:p>
        </p:txBody>
      </p:sp>
      <p:pic>
        <p:nvPicPr>
          <p:cNvPr id="12"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496119" y="3187452"/>
            <a:ext cx="354360" cy="354360"/>
          </a:xfrm>
          <a:prstGeom prst="rect">
            <a:avLst/>
          </a:prstGeom>
        </p:spPr>
      </p:pic>
      <p:sp>
        <p:nvSpPr>
          <p:cNvPr id="13" name="Text 7"/>
          <p:cNvSpPr/>
          <p:nvPr/>
        </p:nvSpPr>
        <p:spPr>
          <a:xfrm>
            <a:off x="1027658" y="3187452"/>
            <a:ext cx="1772022" cy="221456"/>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Inter Bold" pitchFamily="34" charset="0"/>
                <a:ea typeface="Inter Bold" pitchFamily="34" charset="-122"/>
                <a:cs typeface="Inter Bold" pitchFamily="34" charset="-120"/>
              </a:rPr>
              <a:t>Gestion de projets</a:t>
            </a:r>
            <a:endParaRPr lang="en-US" sz="1350" dirty="0"/>
          </a:p>
        </p:txBody>
      </p:sp>
      <p:sp>
        <p:nvSpPr>
          <p:cNvPr id="14" name="Text 8"/>
          <p:cNvSpPr/>
          <p:nvPr/>
        </p:nvSpPr>
        <p:spPr>
          <a:xfrm>
            <a:off x="1027658" y="3493963"/>
            <a:ext cx="2067595"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Roadmaps visuelles, statuts illustrés et partages clairs avec les parties prenantes.</a:t>
            </a:r>
            <a:endParaRPr lang="en-US" sz="1100" dirty="0"/>
          </a:p>
        </p:txBody>
      </p:sp>
      <p:pic>
        <p:nvPicPr>
          <p:cNvPr id="15"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3272433" y="3187452"/>
            <a:ext cx="354360" cy="354360"/>
          </a:xfrm>
          <a:prstGeom prst="rect">
            <a:avLst/>
          </a:prstGeom>
        </p:spPr>
      </p:pic>
      <p:sp>
        <p:nvSpPr>
          <p:cNvPr id="16" name="Text 9"/>
          <p:cNvSpPr/>
          <p:nvPr/>
        </p:nvSpPr>
        <p:spPr>
          <a:xfrm>
            <a:off x="3803972" y="3187452"/>
            <a:ext cx="1979786" cy="221456"/>
          </a:xfrm>
          <a:prstGeom prst="rect">
            <a:avLst/>
          </a:prstGeom>
          <a:noFill/>
          <a:ln/>
        </p:spPr>
        <p:txBody>
          <a:bodyPr wrap="none" lIns="0" tIns="0" rIns="0" bIns="0" rtlCol="0" anchor="t"/>
          <a:lstStyle/>
          <a:p>
            <a:pPr marL="0" indent="0" algn="l">
              <a:lnSpc>
                <a:spcPct val="104000"/>
              </a:lnSpc>
              <a:buNone/>
            </a:pPr>
            <a:r>
              <a:rPr lang="en-US" sz="1350" b="1" dirty="0">
                <a:solidFill>
                  <a:srgbClr val="272525"/>
                </a:solidFill>
                <a:latin typeface="Inter Bold" pitchFamily="34" charset="0"/>
                <a:ea typeface="Inter Bold" pitchFamily="34" charset="-122"/>
                <a:cs typeface="Inter Bold" pitchFamily="34" charset="-120"/>
              </a:rPr>
              <a:t>Formation &amp; E‑learning</a:t>
            </a:r>
            <a:endParaRPr lang="en-US" sz="1350" dirty="0"/>
          </a:p>
        </p:txBody>
      </p:sp>
      <p:sp>
        <p:nvSpPr>
          <p:cNvPr id="17" name="Text 10"/>
          <p:cNvSpPr/>
          <p:nvPr/>
        </p:nvSpPr>
        <p:spPr>
          <a:xfrm>
            <a:off x="3803972" y="3493963"/>
            <a:ext cx="2067595" cy="680442"/>
          </a:xfrm>
          <a:prstGeom prst="rect">
            <a:avLst/>
          </a:prstGeom>
          <a:noFill/>
          <a:ln/>
        </p:spPr>
        <p:txBody>
          <a:bodyPr wrap="square" lIns="0" tIns="0" rIns="0" bIns="0" rtlCol="0" anchor="t">
            <a:normAutofit/>
          </a:bodyPr>
          <a:lstStyle/>
          <a:p>
            <a:pPr marL="0" indent="0" algn="l">
              <a:lnSpc>
                <a:spcPct val="133000"/>
              </a:lnSpc>
              <a:buNone/>
            </a:pPr>
            <a:r>
              <a:rPr lang="en-US" sz="1100" dirty="0">
                <a:solidFill>
                  <a:srgbClr val="272525"/>
                </a:solidFill>
                <a:latin typeface="Inter" pitchFamily="34" charset="0"/>
                <a:ea typeface="Inter" pitchFamily="34" charset="-122"/>
                <a:cs typeface="Inter" pitchFamily="34" charset="-120"/>
              </a:rPr>
              <a:t>Modules visuels, évaluations et supports engageants pour l'apprentissage à distance.</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418654" y="416496"/>
            <a:ext cx="4877693" cy="747564"/>
          </a:xfrm>
          <a:prstGeom prst="rect">
            <a:avLst/>
          </a:prstGeom>
          <a:noFill/>
          <a:ln/>
        </p:spPr>
        <p:txBody>
          <a:bodyPr wrap="square" lIns="0" tIns="0" rIns="0" bIns="0" rtlCol="0" anchor="t">
            <a:normAutofit/>
          </a:bodyPr>
          <a:lstStyle/>
          <a:p>
            <a:pPr marL="0" indent="0" algn="l">
              <a:lnSpc>
                <a:spcPct val="104000"/>
              </a:lnSpc>
              <a:buNone/>
            </a:pPr>
            <a:r>
              <a:rPr lang="en-US" sz="2350" b="1" dirty="0">
                <a:solidFill>
                  <a:srgbClr val="000000"/>
                </a:solidFill>
                <a:latin typeface="Inter Bold" pitchFamily="34" charset="0"/>
                <a:ea typeface="Inter Bold" pitchFamily="34" charset="-122"/>
                <a:cs typeface="Inter Bold" pitchFamily="34" charset="-120"/>
              </a:rPr>
              <a:t>Visme et le métier de Data Analyst</a:t>
            </a:r>
            <a:endParaRPr lang="en-US" sz="2350" dirty="0"/>
          </a:p>
        </p:txBody>
      </p:sp>
      <p:pic>
        <p:nvPicPr>
          <p:cNvPr id="4" name="Image 1" descr="preencoded.png"/>
          <p:cNvPicPr>
            <a:picLocks noChangeAspect="1"/>
          </p:cNvPicPr>
          <p:nvPr/>
        </p:nvPicPr>
        <p:blipFill>
          <a:blip r:embed="rId4"/>
          <a:stretch>
            <a:fillRect/>
          </a:stretch>
        </p:blipFill>
        <p:spPr>
          <a:xfrm>
            <a:off x="197544" y="1322754"/>
            <a:ext cx="2868575" cy="1312843"/>
          </a:xfrm>
          <a:prstGeom prst="rect">
            <a:avLst/>
          </a:prstGeom>
        </p:spPr>
      </p:pic>
      <p:sp>
        <p:nvSpPr>
          <p:cNvPr id="5" name="Text 1"/>
          <p:cNvSpPr/>
          <p:nvPr/>
        </p:nvSpPr>
        <p:spPr>
          <a:xfrm>
            <a:off x="2174349" y="3255245"/>
            <a:ext cx="430476" cy="165851"/>
          </a:xfrm>
          <a:prstGeom prst="rect">
            <a:avLst/>
          </a:prstGeom>
          <a:noFill/>
          <a:ln/>
        </p:spPr>
        <p:txBody>
          <a:bodyPr wrap="square" lIns="0" tIns="0" rIns="0" bIns="0" rtlCol="0" anchor="t">
            <a:normAutofit/>
          </a:bodyPr>
          <a:lstStyle/>
          <a:p>
            <a:pPr marL="0" indent="0" algn="ctr">
              <a:lnSpc>
                <a:spcPct val="104000"/>
              </a:lnSpc>
              <a:buNone/>
            </a:pPr>
            <a:r>
              <a:rPr lang="en-US" sz="500" b="1" dirty="0">
                <a:solidFill>
                  <a:srgbClr val="272525"/>
                </a:solidFill>
                <a:latin typeface="Inter Bold" pitchFamily="34" charset="0"/>
                <a:ea typeface="Inter Bold" pitchFamily="34" charset="-122"/>
                <a:cs typeface="Inter Bold" pitchFamily="34" charset="-120"/>
              </a:rPr>
              <a:t>Interpretation &amp; reporting</a:t>
            </a:r>
            <a:endParaRPr lang="en-US" sz="500" dirty="0"/>
          </a:p>
        </p:txBody>
      </p:sp>
      <p:sp>
        <p:nvSpPr>
          <p:cNvPr id="6" name="Text 2"/>
          <p:cNvSpPr/>
          <p:nvPr/>
        </p:nvSpPr>
        <p:spPr>
          <a:xfrm>
            <a:off x="1631832" y="3296708"/>
            <a:ext cx="430476" cy="82925"/>
          </a:xfrm>
          <a:prstGeom prst="rect">
            <a:avLst/>
          </a:prstGeom>
          <a:noFill/>
          <a:ln/>
        </p:spPr>
        <p:txBody>
          <a:bodyPr wrap="none" lIns="0" tIns="0" rIns="0" bIns="0" rtlCol="0" anchor="t"/>
          <a:lstStyle/>
          <a:p>
            <a:pPr marL="0" indent="0" algn="ctr">
              <a:lnSpc>
                <a:spcPct val="104000"/>
              </a:lnSpc>
              <a:buNone/>
            </a:pPr>
            <a:r>
              <a:rPr lang="en-US" sz="500" b="1" dirty="0">
                <a:solidFill>
                  <a:srgbClr val="272525"/>
                </a:solidFill>
                <a:latin typeface="Inter Bold" pitchFamily="34" charset="0"/>
                <a:ea typeface="Inter Bold" pitchFamily="34" charset="-122"/>
                <a:cs typeface="Inter Bold" pitchFamily="34" charset="-120"/>
              </a:rPr>
              <a:t>Visualization</a:t>
            </a:r>
            <a:endParaRPr lang="en-US" sz="500" dirty="0"/>
          </a:p>
        </p:txBody>
      </p:sp>
      <p:sp>
        <p:nvSpPr>
          <p:cNvPr id="7" name="Text 3"/>
          <p:cNvSpPr/>
          <p:nvPr/>
        </p:nvSpPr>
        <p:spPr>
          <a:xfrm>
            <a:off x="1092263" y="3255245"/>
            <a:ext cx="430476" cy="165851"/>
          </a:xfrm>
          <a:prstGeom prst="rect">
            <a:avLst/>
          </a:prstGeom>
          <a:noFill/>
          <a:ln/>
        </p:spPr>
        <p:txBody>
          <a:bodyPr wrap="square" lIns="0" tIns="0" rIns="0" bIns="0" rtlCol="0" anchor="t">
            <a:normAutofit/>
          </a:bodyPr>
          <a:lstStyle/>
          <a:p>
            <a:pPr marL="0" indent="0" algn="ctr">
              <a:lnSpc>
                <a:spcPct val="104000"/>
              </a:lnSpc>
              <a:buNone/>
            </a:pPr>
            <a:r>
              <a:rPr lang="en-US" sz="500" b="1" dirty="0">
                <a:solidFill>
                  <a:srgbClr val="272525"/>
                </a:solidFill>
                <a:latin typeface="Inter Bold" pitchFamily="34" charset="0"/>
                <a:ea typeface="Inter Bold" pitchFamily="34" charset="-122"/>
                <a:cs typeface="Inter Bold" pitchFamily="34" charset="-120"/>
              </a:rPr>
              <a:t>Cleaning &amp; preparation</a:t>
            </a:r>
            <a:endParaRPr lang="en-US" sz="500" dirty="0"/>
          </a:p>
        </p:txBody>
      </p:sp>
      <p:sp>
        <p:nvSpPr>
          <p:cNvPr id="8" name="Text 4"/>
          <p:cNvSpPr/>
          <p:nvPr/>
        </p:nvSpPr>
        <p:spPr>
          <a:xfrm>
            <a:off x="269507" y="2916455"/>
            <a:ext cx="701869" cy="504641"/>
          </a:xfrm>
          <a:prstGeom prst="rect">
            <a:avLst/>
          </a:prstGeom>
          <a:noFill/>
          <a:ln/>
        </p:spPr>
        <p:txBody>
          <a:bodyPr wrap="square" lIns="0" tIns="0" rIns="0" bIns="0" rtlCol="0" anchor="t">
            <a:normAutofit/>
          </a:bodyPr>
          <a:lstStyle/>
          <a:p>
            <a:pPr marL="0" indent="0" algn="ctr">
              <a:lnSpc>
                <a:spcPct val="104000"/>
              </a:lnSpc>
              <a:buNone/>
            </a:pPr>
            <a:r>
              <a:rPr lang="en-US" sz="500" b="1" dirty="0">
                <a:solidFill>
                  <a:srgbClr val="272525"/>
                </a:solidFill>
                <a:latin typeface="Inter Bold" pitchFamily="34" charset="0"/>
                <a:ea typeface="Inter Bold" pitchFamily="34" charset="-122"/>
                <a:cs typeface="Inter Bold" pitchFamily="34" charset="-120"/>
              </a:rPr>
              <a:t>Data collection</a:t>
            </a:r>
            <a:endParaRPr lang="en-US" sz="500" dirty="0"/>
          </a:p>
        </p:txBody>
      </p:sp>
      <p:sp>
        <p:nvSpPr>
          <p:cNvPr id="9" name="Text 5"/>
          <p:cNvSpPr/>
          <p:nvPr/>
        </p:nvSpPr>
        <p:spPr>
          <a:xfrm>
            <a:off x="3008188" y="1406203"/>
            <a:ext cx="2292921" cy="2610148"/>
          </a:xfrm>
          <a:prstGeom prst="rect">
            <a:avLst/>
          </a:prstGeom>
          <a:noFill/>
          <a:ln/>
        </p:spPr>
        <p:txBody>
          <a:bodyPr wrap="square" lIns="0" tIns="0" rIns="0" bIns="0" rtlCol="0" anchor="t">
            <a:normAutofit/>
          </a:bodyPr>
          <a:lstStyle/>
          <a:p>
            <a:pPr marL="342900" indent="-342900" algn="l">
              <a:lnSpc>
                <a:spcPct val="123000"/>
              </a:lnSpc>
              <a:buSzPct val="100000"/>
              <a:buChar char="•"/>
            </a:pPr>
            <a:r>
              <a:rPr lang="en-US" sz="900" dirty="0">
                <a:solidFill>
                  <a:srgbClr val="272525"/>
                </a:solidFill>
                <a:latin typeface="Inter" pitchFamily="34" charset="0"/>
                <a:ea typeface="Inter" pitchFamily="34" charset="-122"/>
                <a:cs typeface="Inter" pitchFamily="34" charset="-120"/>
              </a:rPr>
              <a:t>Présentation visuelle des données analysées pour faciliter la compréhension.</a:t>
            </a:r>
            <a:endParaRPr lang="en-US" sz="900" dirty="0"/>
          </a:p>
          <a:p>
            <a:pPr marL="342900" indent="-342900" algn="l">
              <a:lnSpc>
                <a:spcPct val="123000"/>
              </a:lnSpc>
              <a:buSzPct val="100000"/>
              <a:buChar char="•"/>
            </a:pPr>
            <a:r>
              <a:rPr lang="en-US" sz="900" dirty="0">
                <a:solidFill>
                  <a:srgbClr val="272525"/>
                </a:solidFill>
                <a:latin typeface="Inter" pitchFamily="34" charset="0"/>
                <a:ea typeface="Inter" pitchFamily="34" charset="-122"/>
                <a:cs typeface="Inter" pitchFamily="34" charset="-120"/>
              </a:rPr>
              <a:t>Création de tableaux de bord et graphiques interactifs adaptables aux décideurs.</a:t>
            </a:r>
            <a:endParaRPr lang="en-US" sz="900" dirty="0"/>
          </a:p>
          <a:p>
            <a:pPr marL="342900" indent="-342900" algn="l">
              <a:lnSpc>
                <a:spcPct val="123000"/>
              </a:lnSpc>
              <a:buSzPct val="100000"/>
              <a:buChar char="•"/>
            </a:pPr>
            <a:r>
              <a:rPr lang="en-US" sz="900" dirty="0">
                <a:solidFill>
                  <a:srgbClr val="272525"/>
                </a:solidFill>
                <a:latin typeface="Inter" pitchFamily="34" charset="0"/>
                <a:ea typeface="Inter" pitchFamily="34" charset="-122"/>
                <a:cs typeface="Inter" pitchFamily="34" charset="-120"/>
              </a:rPr>
              <a:t>Communication claire des résultats avec exports PDF et formats partageables.</a:t>
            </a:r>
            <a:endParaRPr lang="en-US" sz="900" dirty="0"/>
          </a:p>
          <a:p>
            <a:pPr marL="342900" indent="-342900" algn="l">
              <a:lnSpc>
                <a:spcPct val="123000"/>
              </a:lnSpc>
              <a:buSzPct val="100000"/>
              <a:buChar char="•"/>
            </a:pPr>
            <a:r>
              <a:rPr lang="en-US" sz="900" dirty="0">
                <a:solidFill>
                  <a:srgbClr val="272525"/>
                </a:solidFill>
                <a:latin typeface="Inter" pitchFamily="34" charset="0"/>
                <a:ea typeface="Inter" pitchFamily="34" charset="-122"/>
                <a:cs typeface="Inter" pitchFamily="34" charset="-120"/>
              </a:rPr>
              <a:t>Transformation des données complexes en récits visuels actionnables.</a:t>
            </a:r>
            <a:endParaRPr lang="en-US" sz="900" dirty="0"/>
          </a:p>
          <a:p>
            <a:pPr marL="342900" indent="-342900" algn="l">
              <a:lnSpc>
                <a:spcPct val="123000"/>
              </a:lnSpc>
              <a:buSzPct val="100000"/>
              <a:buChar char="•"/>
            </a:pPr>
            <a:r>
              <a:rPr lang="en-US" sz="900" dirty="0">
                <a:solidFill>
                  <a:srgbClr val="272525"/>
                </a:solidFill>
                <a:latin typeface="Inter" pitchFamily="34" charset="0"/>
                <a:ea typeface="Inter" pitchFamily="34" charset="-122"/>
                <a:cs typeface="Inter" pitchFamily="34" charset="-120"/>
              </a:rPr>
              <a:t>Soutien à la prise de décision grâce à visualisations comparatives et KPI.</a:t>
            </a:r>
            <a:endParaRPr lang="en-US" sz="900" dirty="0"/>
          </a:p>
        </p:txBody>
      </p:sp>
      <p:sp>
        <p:nvSpPr>
          <p:cNvPr id="10" name="Text 6"/>
          <p:cNvSpPr/>
          <p:nvPr/>
        </p:nvSpPr>
        <p:spPr>
          <a:xfrm>
            <a:off x="3008188" y="4107135"/>
            <a:ext cx="2292921" cy="529084"/>
          </a:xfrm>
          <a:prstGeom prst="rect">
            <a:avLst/>
          </a:prstGeom>
          <a:noFill/>
          <a:ln/>
        </p:spPr>
        <p:txBody>
          <a:bodyPr wrap="square" lIns="0" tIns="0" rIns="0" bIns="0" rtlCol="0" anchor="t">
            <a:normAutofit/>
          </a:bodyPr>
          <a:lstStyle/>
          <a:p>
            <a:pPr marL="0" indent="0" algn="l">
              <a:lnSpc>
                <a:spcPct val="123000"/>
              </a:lnSpc>
              <a:buNone/>
            </a:pPr>
            <a:r>
              <a:rPr lang="en-US" sz="900" dirty="0">
                <a:solidFill>
                  <a:srgbClr val="272525"/>
                </a:solidFill>
                <a:latin typeface="Inter" pitchFamily="34" charset="0"/>
                <a:ea typeface="Inter" pitchFamily="34" charset="-122"/>
                <a:cs typeface="Inter" pitchFamily="34" charset="-120"/>
              </a:rPr>
              <a:t>Visme sert d'outil de finition pour rendre les analyses techniques accessibles et convaincantes.</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429000" cy="5143500"/>
          </a:xfrm>
          <a:prstGeom prst="rect">
            <a:avLst/>
          </a:prstGeom>
        </p:spPr>
      </p:pic>
      <p:sp>
        <p:nvSpPr>
          <p:cNvPr id="3" name="Text 0"/>
          <p:cNvSpPr/>
          <p:nvPr/>
        </p:nvSpPr>
        <p:spPr>
          <a:xfrm>
            <a:off x="3808884" y="403399"/>
            <a:ext cx="4955232" cy="678359"/>
          </a:xfrm>
          <a:prstGeom prst="rect">
            <a:avLst/>
          </a:prstGeom>
          <a:noFill/>
          <a:ln/>
        </p:spPr>
        <p:txBody>
          <a:bodyPr wrap="square" lIns="0" tIns="0" rIns="0" bIns="0" rtlCol="0" anchor="t">
            <a:normAutofit/>
          </a:bodyPr>
          <a:lstStyle/>
          <a:p>
            <a:pPr marL="0" indent="0" algn="l">
              <a:lnSpc>
                <a:spcPct val="104000"/>
              </a:lnSpc>
              <a:buNone/>
            </a:pPr>
            <a:r>
              <a:rPr lang="en-US" sz="2100" b="1" dirty="0">
                <a:solidFill>
                  <a:srgbClr val="000000"/>
                </a:solidFill>
                <a:latin typeface="Inter Bold" pitchFamily="34" charset="0"/>
                <a:ea typeface="Inter Bold" pitchFamily="34" charset="-122"/>
                <a:cs typeface="Inter Bold" pitchFamily="34" charset="-120"/>
              </a:rPr>
              <a:t>Limites et comparaison avec d’autres outils</a:t>
            </a:r>
            <a:endParaRPr lang="en-US" sz="2100" dirty="0"/>
          </a:p>
        </p:txBody>
      </p:sp>
      <p:sp>
        <p:nvSpPr>
          <p:cNvPr id="4" name="Shape 1"/>
          <p:cNvSpPr/>
          <p:nvPr/>
        </p:nvSpPr>
        <p:spPr>
          <a:xfrm>
            <a:off x="3808884" y="1299865"/>
            <a:ext cx="2345234" cy="1111300"/>
          </a:xfrm>
          <a:prstGeom prst="roundRect">
            <a:avLst>
              <a:gd name="adj" fmla="val 4102"/>
            </a:avLst>
          </a:prstGeom>
          <a:solidFill>
            <a:srgbClr val="FFFFFF"/>
          </a:solidFill>
          <a:ln w="14288">
            <a:solidFill>
              <a:srgbClr val="C0C1D7"/>
            </a:solidFill>
            <a:prstDash val="solid"/>
          </a:ln>
        </p:spPr>
      </p:sp>
      <p:sp>
        <p:nvSpPr>
          <p:cNvPr id="5" name="Text 2"/>
          <p:cNvSpPr/>
          <p:nvPr/>
        </p:nvSpPr>
        <p:spPr>
          <a:xfrm>
            <a:off x="3931667" y="1422648"/>
            <a:ext cx="1400101" cy="169515"/>
          </a:xfrm>
          <a:prstGeom prst="rect">
            <a:avLst/>
          </a:prstGeom>
          <a:noFill/>
          <a:ln/>
        </p:spPr>
        <p:txBody>
          <a:bodyPr wrap="none" lIns="0" tIns="0" rIns="0" bIns="0" rtlCol="0" anchor="t"/>
          <a:lstStyle/>
          <a:p>
            <a:pPr marL="0" indent="0" algn="l">
              <a:lnSpc>
                <a:spcPct val="104000"/>
              </a:lnSpc>
              <a:buNone/>
            </a:pPr>
            <a:r>
              <a:rPr lang="en-US" sz="1050" b="1" dirty="0">
                <a:solidFill>
                  <a:srgbClr val="272525"/>
                </a:solidFill>
                <a:latin typeface="Inter Bold" pitchFamily="34" charset="0"/>
                <a:ea typeface="Inter Bold" pitchFamily="34" charset="-122"/>
                <a:cs typeface="Inter Bold" pitchFamily="34" charset="-120"/>
              </a:rPr>
              <a:t>Visme vs PowerPoint</a:t>
            </a:r>
            <a:endParaRPr lang="en-US" sz="1050" dirty="0"/>
          </a:p>
        </p:txBody>
      </p:sp>
      <p:sp>
        <p:nvSpPr>
          <p:cNvPr id="6" name="Text 3"/>
          <p:cNvSpPr/>
          <p:nvPr/>
        </p:nvSpPr>
        <p:spPr>
          <a:xfrm>
            <a:off x="3931667" y="1675209"/>
            <a:ext cx="2099667" cy="613172"/>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272525"/>
                </a:solidFill>
                <a:latin typeface="Inter" pitchFamily="34" charset="0"/>
                <a:ea typeface="Inter" pitchFamily="34" charset="-122"/>
                <a:cs typeface="Inter" pitchFamily="34" charset="-120"/>
              </a:rPr>
              <a:t>Visme propose des templates modernes et visualisation intégrée ; PowerPoint reste plus répandu et puissant pour présentations avancées hors-ligne.</a:t>
            </a:r>
            <a:endParaRPr lang="en-US" sz="850" dirty="0"/>
          </a:p>
        </p:txBody>
      </p:sp>
      <p:sp>
        <p:nvSpPr>
          <p:cNvPr id="7" name="Shape 4"/>
          <p:cNvSpPr/>
          <p:nvPr/>
        </p:nvSpPr>
        <p:spPr>
          <a:xfrm>
            <a:off x="3808884" y="2494211"/>
            <a:ext cx="2345234" cy="1111300"/>
          </a:xfrm>
          <a:prstGeom prst="roundRect">
            <a:avLst>
              <a:gd name="adj" fmla="val 4102"/>
            </a:avLst>
          </a:prstGeom>
          <a:solidFill>
            <a:srgbClr val="FFFFFF"/>
          </a:solidFill>
          <a:ln w="14288">
            <a:solidFill>
              <a:srgbClr val="C0C1D7"/>
            </a:solidFill>
            <a:prstDash val="solid"/>
          </a:ln>
        </p:spPr>
      </p:sp>
      <p:sp>
        <p:nvSpPr>
          <p:cNvPr id="8" name="Text 5"/>
          <p:cNvSpPr/>
          <p:nvPr/>
        </p:nvSpPr>
        <p:spPr>
          <a:xfrm>
            <a:off x="3931667" y="2616994"/>
            <a:ext cx="1356717" cy="169515"/>
          </a:xfrm>
          <a:prstGeom prst="rect">
            <a:avLst/>
          </a:prstGeom>
          <a:noFill/>
          <a:ln/>
        </p:spPr>
        <p:txBody>
          <a:bodyPr wrap="none" lIns="0" tIns="0" rIns="0" bIns="0" rtlCol="0" anchor="t"/>
          <a:lstStyle/>
          <a:p>
            <a:pPr marL="0" indent="0" algn="l">
              <a:lnSpc>
                <a:spcPct val="104000"/>
              </a:lnSpc>
              <a:buNone/>
            </a:pPr>
            <a:r>
              <a:rPr lang="en-US" sz="1050" b="1" dirty="0">
                <a:solidFill>
                  <a:srgbClr val="272525"/>
                </a:solidFill>
                <a:latin typeface="Inter Bold" pitchFamily="34" charset="0"/>
                <a:ea typeface="Inter Bold" pitchFamily="34" charset="-122"/>
                <a:cs typeface="Inter Bold" pitchFamily="34" charset="-120"/>
              </a:rPr>
              <a:t>Visme vs Canva</a:t>
            </a:r>
            <a:endParaRPr lang="en-US" sz="1050" dirty="0"/>
          </a:p>
        </p:txBody>
      </p:sp>
      <p:sp>
        <p:nvSpPr>
          <p:cNvPr id="9" name="Text 6"/>
          <p:cNvSpPr/>
          <p:nvPr/>
        </p:nvSpPr>
        <p:spPr>
          <a:xfrm>
            <a:off x="3931667" y="2869555"/>
            <a:ext cx="2099667" cy="613172"/>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272525"/>
                </a:solidFill>
                <a:latin typeface="Inter" pitchFamily="34" charset="0"/>
                <a:ea typeface="Inter" pitchFamily="34" charset="-122"/>
                <a:cs typeface="Inter" pitchFamily="34" charset="-120"/>
              </a:rPr>
              <a:t>Canva est très simple pour les visuels rapides ; Visme excelle dans la visualisation de données et les rapports interactifs.</a:t>
            </a:r>
            <a:endParaRPr lang="en-US" sz="850" dirty="0"/>
          </a:p>
        </p:txBody>
      </p:sp>
      <p:sp>
        <p:nvSpPr>
          <p:cNvPr id="10" name="Shape 7"/>
          <p:cNvSpPr/>
          <p:nvPr/>
        </p:nvSpPr>
        <p:spPr>
          <a:xfrm>
            <a:off x="3808884" y="3688556"/>
            <a:ext cx="2345234" cy="958007"/>
          </a:xfrm>
          <a:prstGeom prst="roundRect">
            <a:avLst>
              <a:gd name="adj" fmla="val 4759"/>
            </a:avLst>
          </a:prstGeom>
          <a:solidFill>
            <a:srgbClr val="FFFFFF"/>
          </a:solidFill>
          <a:ln w="14288">
            <a:solidFill>
              <a:srgbClr val="C0C1D7"/>
            </a:solidFill>
            <a:prstDash val="solid"/>
          </a:ln>
        </p:spPr>
      </p:sp>
      <p:sp>
        <p:nvSpPr>
          <p:cNvPr id="11" name="Text 8"/>
          <p:cNvSpPr/>
          <p:nvPr/>
        </p:nvSpPr>
        <p:spPr>
          <a:xfrm>
            <a:off x="3931667" y="3811339"/>
            <a:ext cx="1356717" cy="169515"/>
          </a:xfrm>
          <a:prstGeom prst="rect">
            <a:avLst/>
          </a:prstGeom>
          <a:noFill/>
          <a:ln/>
        </p:spPr>
        <p:txBody>
          <a:bodyPr wrap="none" lIns="0" tIns="0" rIns="0" bIns="0" rtlCol="0" anchor="t"/>
          <a:lstStyle/>
          <a:p>
            <a:pPr marL="0" indent="0" algn="l">
              <a:lnSpc>
                <a:spcPct val="104000"/>
              </a:lnSpc>
              <a:buNone/>
            </a:pPr>
            <a:r>
              <a:rPr lang="en-US" sz="1050" b="1" dirty="0">
                <a:solidFill>
                  <a:srgbClr val="272525"/>
                </a:solidFill>
                <a:latin typeface="Inter Bold" pitchFamily="34" charset="0"/>
                <a:ea typeface="Inter Bold" pitchFamily="34" charset="-122"/>
                <a:cs typeface="Inter Bold" pitchFamily="34" charset="-120"/>
              </a:rPr>
              <a:t>Visme vs Prezi</a:t>
            </a:r>
            <a:endParaRPr lang="en-US" sz="1050" dirty="0"/>
          </a:p>
        </p:txBody>
      </p:sp>
      <p:sp>
        <p:nvSpPr>
          <p:cNvPr id="12" name="Text 9"/>
          <p:cNvSpPr/>
          <p:nvPr/>
        </p:nvSpPr>
        <p:spPr>
          <a:xfrm>
            <a:off x="3931667" y="4063901"/>
            <a:ext cx="2099667" cy="459879"/>
          </a:xfrm>
          <a:prstGeom prst="rect">
            <a:avLst/>
          </a:prstGeom>
          <a:noFill/>
          <a:ln/>
        </p:spPr>
        <p:txBody>
          <a:bodyPr wrap="square" lIns="0" tIns="0" rIns="0" bIns="0" rtlCol="0" anchor="t">
            <a:normAutofit/>
          </a:bodyPr>
          <a:lstStyle/>
          <a:p>
            <a:pPr marL="0" indent="0" algn="l">
              <a:lnSpc>
                <a:spcPct val="118000"/>
              </a:lnSpc>
              <a:buNone/>
            </a:pPr>
            <a:r>
              <a:rPr lang="en-US" sz="850" dirty="0">
                <a:solidFill>
                  <a:srgbClr val="272525"/>
                </a:solidFill>
                <a:latin typeface="Inter" pitchFamily="34" charset="0"/>
                <a:ea typeface="Inter" pitchFamily="34" charset="-122"/>
                <a:cs typeface="Inter" pitchFamily="34" charset="-120"/>
              </a:rPr>
              <a:t>Prezi mise sur le mouvement narratif non linéaire ; Visme privilégie la clarté, la structuration et l'export professionnel.</a:t>
            </a:r>
            <a:endParaRPr lang="en-US" sz="850" dirty="0"/>
          </a:p>
        </p:txBody>
      </p:sp>
      <p:sp>
        <p:nvSpPr>
          <p:cNvPr id="13" name="Text 10"/>
          <p:cNvSpPr/>
          <p:nvPr/>
        </p:nvSpPr>
        <p:spPr>
          <a:xfrm>
            <a:off x="6423645" y="1289447"/>
            <a:ext cx="1813917" cy="169515"/>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Inter Bold" pitchFamily="34" charset="0"/>
                <a:ea typeface="Inter Bold" pitchFamily="34" charset="-122"/>
                <a:cs typeface="Inter Bold" pitchFamily="34" charset="-120"/>
              </a:rPr>
              <a:t>Points forts</a:t>
            </a:r>
            <a:endParaRPr lang="en-US" sz="1050" dirty="0"/>
          </a:p>
        </p:txBody>
      </p:sp>
      <p:sp>
        <p:nvSpPr>
          <p:cNvPr id="14" name="Text 11"/>
          <p:cNvSpPr/>
          <p:nvPr/>
        </p:nvSpPr>
        <p:spPr>
          <a:xfrm>
            <a:off x="6423645" y="1542008"/>
            <a:ext cx="2345234" cy="671215"/>
          </a:xfrm>
          <a:prstGeom prst="rect">
            <a:avLst/>
          </a:prstGeom>
          <a:noFill/>
          <a:ln/>
        </p:spPr>
        <p:txBody>
          <a:bodyPr wrap="square" lIns="0" tIns="0" rIns="0" bIns="0" rtlCol="0" anchor="t">
            <a:normAutofit/>
          </a:bodyPr>
          <a:lstStyle/>
          <a:p>
            <a:pPr marL="342900" indent="-342900" algn="l">
              <a:lnSpc>
                <a:spcPct val="118000"/>
              </a:lnSpc>
              <a:buSzPct val="100000"/>
              <a:buChar char="•"/>
            </a:pPr>
            <a:r>
              <a:rPr lang="en-US" sz="850" dirty="0">
                <a:solidFill>
                  <a:srgbClr val="272525"/>
                </a:solidFill>
                <a:latin typeface="Inter" pitchFamily="34" charset="0"/>
                <a:ea typeface="Inter" pitchFamily="34" charset="-122"/>
                <a:cs typeface="Inter" pitchFamily="34" charset="-120"/>
              </a:rPr>
              <a:t>Visualisation de données interactive</a:t>
            </a:r>
            <a:endParaRPr lang="en-US" sz="850" dirty="0"/>
          </a:p>
          <a:p>
            <a:pPr marL="342900" indent="-342900" algn="l">
              <a:lnSpc>
                <a:spcPct val="118000"/>
              </a:lnSpc>
              <a:buSzPct val="100000"/>
              <a:buChar char="•"/>
            </a:pPr>
            <a:r>
              <a:rPr lang="en-US" sz="850" dirty="0">
                <a:solidFill>
                  <a:srgbClr val="272525"/>
                </a:solidFill>
                <a:latin typeface="Inter" pitchFamily="34" charset="0"/>
                <a:ea typeface="Inter" pitchFamily="34" charset="-122"/>
                <a:cs typeface="Inter" pitchFamily="34" charset="-120"/>
              </a:rPr>
              <a:t>Templates orientés business</a:t>
            </a:r>
            <a:endParaRPr lang="en-US" sz="850" dirty="0"/>
          </a:p>
          <a:p>
            <a:pPr marL="342900" indent="-342900" algn="l">
              <a:lnSpc>
                <a:spcPct val="118000"/>
              </a:lnSpc>
              <a:buSzPct val="100000"/>
              <a:buChar char="•"/>
            </a:pPr>
            <a:r>
              <a:rPr lang="en-US" sz="850" dirty="0">
                <a:solidFill>
                  <a:srgbClr val="272525"/>
                </a:solidFill>
                <a:latin typeface="Inter" pitchFamily="34" charset="0"/>
                <a:ea typeface="Inter" pitchFamily="34" charset="-122"/>
                <a:cs typeface="Inter" pitchFamily="34" charset="-120"/>
              </a:rPr>
              <a:t>Bon équilibre entre facilité et fonctionnalités avancées</a:t>
            </a:r>
            <a:endParaRPr lang="en-US" sz="850" dirty="0"/>
          </a:p>
        </p:txBody>
      </p:sp>
      <p:sp>
        <p:nvSpPr>
          <p:cNvPr id="15" name="Text 12"/>
          <p:cNvSpPr/>
          <p:nvPr/>
        </p:nvSpPr>
        <p:spPr>
          <a:xfrm>
            <a:off x="6423645" y="2296269"/>
            <a:ext cx="1813917" cy="169515"/>
          </a:xfrm>
          <a:prstGeom prst="rect">
            <a:avLst/>
          </a:prstGeom>
          <a:noFill/>
          <a:ln/>
        </p:spPr>
        <p:txBody>
          <a:bodyPr wrap="none" lIns="0" tIns="0" rIns="0" bIns="0" rtlCol="0" anchor="t"/>
          <a:lstStyle/>
          <a:p>
            <a:pPr marL="0" indent="0" algn="l">
              <a:lnSpc>
                <a:spcPct val="104000"/>
              </a:lnSpc>
              <a:buNone/>
            </a:pPr>
            <a:r>
              <a:rPr lang="en-US" sz="1050" b="1" dirty="0">
                <a:solidFill>
                  <a:srgbClr val="000000"/>
                </a:solidFill>
                <a:latin typeface="Inter Bold" pitchFamily="34" charset="0"/>
                <a:ea typeface="Inter Bold" pitchFamily="34" charset="-122"/>
                <a:cs typeface="Inter Bold" pitchFamily="34" charset="-120"/>
              </a:rPr>
              <a:t>Points faibles</a:t>
            </a:r>
            <a:endParaRPr lang="en-US" sz="1050" dirty="0"/>
          </a:p>
        </p:txBody>
      </p:sp>
      <p:sp>
        <p:nvSpPr>
          <p:cNvPr id="16" name="Text 13"/>
          <p:cNvSpPr/>
          <p:nvPr/>
        </p:nvSpPr>
        <p:spPr>
          <a:xfrm>
            <a:off x="6423645" y="2548830"/>
            <a:ext cx="2345234" cy="977801"/>
          </a:xfrm>
          <a:prstGeom prst="rect">
            <a:avLst/>
          </a:prstGeom>
          <a:noFill/>
          <a:ln/>
        </p:spPr>
        <p:txBody>
          <a:bodyPr wrap="square" lIns="0" tIns="0" rIns="0" bIns="0" rtlCol="0" anchor="t">
            <a:normAutofit/>
          </a:bodyPr>
          <a:lstStyle/>
          <a:p>
            <a:pPr marL="342900" indent="-342900" algn="l">
              <a:lnSpc>
                <a:spcPct val="118000"/>
              </a:lnSpc>
              <a:buSzPct val="100000"/>
              <a:buChar char="•"/>
            </a:pPr>
            <a:r>
              <a:rPr lang="en-US" sz="850" dirty="0">
                <a:solidFill>
                  <a:srgbClr val="272525"/>
                </a:solidFill>
                <a:latin typeface="Inter" pitchFamily="34" charset="0"/>
                <a:ea typeface="Inter" pitchFamily="34" charset="-122"/>
                <a:cs typeface="Inter" pitchFamily="34" charset="-120"/>
              </a:rPr>
              <a:t>Courbe d'apprentissage pour fonctions avancées</a:t>
            </a:r>
            <a:endParaRPr lang="en-US" sz="850" dirty="0"/>
          </a:p>
          <a:p>
            <a:pPr marL="342900" indent="-342900" algn="l">
              <a:lnSpc>
                <a:spcPct val="118000"/>
              </a:lnSpc>
              <a:buSzPct val="100000"/>
              <a:buChar char="•"/>
            </a:pPr>
            <a:r>
              <a:rPr lang="en-US" sz="850" dirty="0">
                <a:solidFill>
                  <a:srgbClr val="272525"/>
                </a:solidFill>
                <a:latin typeface="Inter" pitchFamily="34" charset="0"/>
                <a:ea typeface="Inter" pitchFamily="34" charset="-122"/>
                <a:cs typeface="Inter" pitchFamily="34" charset="-120"/>
              </a:rPr>
              <a:t>Fonctionnalités collaboratives dépendantes du plan tarifaire</a:t>
            </a:r>
            <a:endParaRPr lang="en-US" sz="850" dirty="0"/>
          </a:p>
          <a:p>
            <a:pPr marL="342900" indent="-342900" algn="l">
              <a:lnSpc>
                <a:spcPct val="118000"/>
              </a:lnSpc>
              <a:buSzPct val="100000"/>
              <a:buChar char="•"/>
            </a:pPr>
            <a:r>
              <a:rPr lang="en-US" sz="850" dirty="0">
                <a:solidFill>
                  <a:srgbClr val="272525"/>
                </a:solidFill>
                <a:latin typeface="Inter" pitchFamily="34" charset="0"/>
                <a:ea typeface="Inter" pitchFamily="34" charset="-122"/>
                <a:cs typeface="Inter" pitchFamily="34" charset="-120"/>
              </a:rPr>
              <a:t>Moins d'extensions tierces que les acteurs historiques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5" name="Shape 2"/>
          <p:cNvSpPr/>
          <p:nvPr/>
        </p:nvSpPr>
        <p:spPr>
          <a:xfrm>
            <a:off x="259883" y="2723949"/>
            <a:ext cx="5140646" cy="1020278"/>
          </a:xfrm>
          <a:prstGeom prst="roundRect">
            <a:avLst>
              <a:gd name="adj" fmla="val 7205"/>
            </a:avLst>
          </a:prstGeom>
          <a:solidFill>
            <a:srgbClr val="DADBF1"/>
          </a:solidFill>
          <a:ln w="4763">
            <a:solidFill>
              <a:srgbClr val="C0C1D7"/>
            </a:solidFill>
            <a:prstDash val="solid"/>
          </a:ln>
        </p:spPr>
      </p:sp>
      <p:pic>
        <p:nvPicPr>
          <p:cNvPr id="2" name="Image 0" descr="preencoded.png"/>
          <p:cNvPicPr>
            <a:picLocks noChangeAspect="1"/>
          </p:cNvPicPr>
          <p:nvPr/>
        </p:nvPicPr>
        <p:blipFill>
          <a:blip r:embed="rId3"/>
          <a:stretch>
            <a:fillRect/>
          </a:stretch>
        </p:blipFill>
        <p:spPr>
          <a:xfrm>
            <a:off x="5715000" y="0"/>
            <a:ext cx="3429000" cy="5143500"/>
          </a:xfrm>
          <a:prstGeom prst="rect">
            <a:avLst/>
          </a:prstGeom>
        </p:spPr>
      </p:pic>
      <p:sp>
        <p:nvSpPr>
          <p:cNvPr id="3" name="Text 0"/>
          <p:cNvSpPr/>
          <p:nvPr/>
        </p:nvSpPr>
        <p:spPr>
          <a:xfrm>
            <a:off x="382786" y="1410816"/>
            <a:ext cx="4949354" cy="442987"/>
          </a:xfrm>
          <a:prstGeom prst="rect">
            <a:avLst/>
          </a:prstGeom>
          <a:noFill/>
          <a:ln/>
        </p:spPr>
        <p:txBody>
          <a:bodyPr wrap="none" lIns="0" tIns="0" rIns="0" bIns="0" rtlCol="0" anchor="t"/>
          <a:lstStyle/>
          <a:p>
            <a:pPr marL="0" indent="0" algn="ctr">
              <a:lnSpc>
                <a:spcPct val="104000"/>
              </a:lnSpc>
              <a:buNone/>
            </a:pPr>
            <a:r>
              <a:rPr lang="en-US" sz="2750" b="1" dirty="0">
                <a:solidFill>
                  <a:srgbClr val="000000"/>
                </a:solidFill>
                <a:latin typeface="Inter Bold" pitchFamily="34" charset="0"/>
                <a:ea typeface="Inter Bold" pitchFamily="34" charset="-122"/>
                <a:cs typeface="Inter Bold" pitchFamily="34" charset="-120"/>
              </a:rPr>
              <a:t>Merci pour votre attention</a:t>
            </a:r>
            <a:endParaRPr lang="en-US" sz="2750" dirty="0"/>
          </a:p>
        </p:txBody>
      </p:sp>
      <p:sp>
        <p:nvSpPr>
          <p:cNvPr id="4" name="Text 1"/>
          <p:cNvSpPr/>
          <p:nvPr/>
        </p:nvSpPr>
        <p:spPr>
          <a:xfrm>
            <a:off x="382786" y="2758652"/>
            <a:ext cx="4722725" cy="1216582"/>
          </a:xfrm>
          <a:prstGeom prst="rect">
            <a:avLst/>
          </a:prstGeom>
          <a:noFill/>
          <a:ln/>
        </p:spPr>
        <p:txBody>
          <a:bodyPr wrap="square" lIns="0" tIns="0" rIns="0" bIns="0" rtlCol="0" anchor="t">
            <a:normAutofit/>
          </a:bodyPr>
          <a:lstStyle/>
          <a:p>
            <a:pPr marL="0" indent="0" algn="ctr">
              <a:lnSpc>
                <a:spcPct val="133000"/>
              </a:lnSpc>
              <a:buNone/>
            </a:pPr>
            <a:r>
              <a:rPr lang="en-US" sz="1400" dirty="0">
                <a:solidFill>
                  <a:srgbClr val="272525"/>
                </a:solidFill>
                <a:latin typeface="Franklin Gothic Medium" panose="020B0603020102020204" pitchFamily="34" charset="0"/>
                <a:ea typeface="Inter" pitchFamily="34" charset="-122"/>
                <a:cs typeface="Inter" pitchFamily="34" charset="-120"/>
              </a:rPr>
              <a:t>Conclusion : Visme est une solution moderne et polyvalente pour transformer données et idées en contenus </a:t>
            </a:r>
            <a:r>
              <a:rPr lang="en-US" sz="1400" dirty="0" err="1">
                <a:solidFill>
                  <a:srgbClr val="272525"/>
                </a:solidFill>
                <a:latin typeface="Franklin Gothic Medium" panose="020B0603020102020204" pitchFamily="34" charset="0"/>
                <a:ea typeface="Inter" pitchFamily="34" charset="-122"/>
                <a:cs typeface="Inter" pitchFamily="34" charset="-120"/>
              </a:rPr>
              <a:t>visuels</a:t>
            </a:r>
            <a:r>
              <a:rPr lang="en-US" sz="1400" dirty="0">
                <a:solidFill>
                  <a:srgbClr val="272525"/>
                </a:solidFill>
                <a:latin typeface="Franklin Gothic Medium" panose="020B0603020102020204" pitchFamily="34" charset="0"/>
                <a:ea typeface="Inter" pitchFamily="34" charset="-122"/>
                <a:cs typeface="Inter" pitchFamily="34" charset="-120"/>
              </a:rPr>
              <a:t> </a:t>
            </a:r>
            <a:r>
              <a:rPr lang="en-US" sz="1400" dirty="0" err="1">
                <a:solidFill>
                  <a:srgbClr val="272525"/>
                </a:solidFill>
                <a:latin typeface="Franklin Gothic Medium" panose="020B0603020102020204" pitchFamily="34" charset="0"/>
                <a:ea typeface="Inter" pitchFamily="34" charset="-122"/>
                <a:cs typeface="Inter" pitchFamily="34" charset="-120"/>
              </a:rPr>
              <a:t>professionnels</a:t>
            </a:r>
            <a:endParaRPr lang="en-US" sz="1400" dirty="0">
              <a:latin typeface="Franklin Gothic Medium" panose="020B0603020102020204" pitchFamily="34" charset="0"/>
            </a:endParaRPr>
          </a:p>
        </p:txBody>
      </p:sp>
      <p:sp>
        <p:nvSpPr>
          <p:cNvPr id="6" name="Text 3"/>
          <p:cNvSpPr/>
          <p:nvPr/>
        </p:nvSpPr>
        <p:spPr>
          <a:xfrm>
            <a:off x="1971452" y="3052837"/>
            <a:ext cx="1772022" cy="221456"/>
          </a:xfrm>
          <a:prstGeom prst="rect">
            <a:avLst/>
          </a:prstGeom>
          <a:noFill/>
          <a:ln/>
        </p:spPr>
        <p:txBody>
          <a:bodyPr wrap="none" lIns="0" tIns="0" rIns="0" bIns="0" rtlCol="0" anchor="t"/>
          <a:lstStyle/>
          <a:p>
            <a:pPr marL="0" indent="0" algn="ctr">
              <a:lnSpc>
                <a:spcPct val="104000"/>
              </a:lnSpc>
              <a:buNone/>
            </a:pPr>
            <a:endParaRPr lang="en-US" sz="1350" dirty="0"/>
          </a:p>
        </p:txBody>
      </p:sp>
      <p:sp>
        <p:nvSpPr>
          <p:cNvPr id="7" name="Text 4"/>
          <p:cNvSpPr/>
          <p:nvPr/>
        </p:nvSpPr>
        <p:spPr>
          <a:xfrm>
            <a:off x="642640" y="3359348"/>
            <a:ext cx="4429720" cy="226814"/>
          </a:xfrm>
          <a:prstGeom prst="rect">
            <a:avLst/>
          </a:prstGeom>
          <a:noFill/>
          <a:ln/>
        </p:spPr>
        <p:txBody>
          <a:bodyPr wrap="none" lIns="0" tIns="0" rIns="0" bIns="0" rtlCol="0" anchor="t"/>
          <a:lstStyle/>
          <a:p>
            <a:pPr marL="0" indent="0" algn="ctr">
              <a:lnSpc>
                <a:spcPct val="133000"/>
              </a:lnSpc>
              <a:buNone/>
            </a:pP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1180</TotalTime>
  <Words>596</Words>
  <Application>Microsoft Office PowerPoint</Application>
  <PresentationFormat>On-screen Show (16:9)</PresentationFormat>
  <Paragraphs>93</Paragraphs>
  <Slides>9</Slides>
  <Notes>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9</vt:i4>
      </vt:variant>
    </vt:vector>
  </HeadingPairs>
  <TitlesOfParts>
    <vt:vector size="16" baseType="lpstr">
      <vt:lpstr>Franklin Gothic Medium</vt:lpstr>
      <vt:lpstr>Ebrima</vt:lpstr>
      <vt:lpstr>Inter Bold</vt:lpstr>
      <vt:lpstr>Arial Black</vt:lpstr>
      <vt:lpstr>Inter</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Youssef Kassabi</dc:creator>
  <cp:lastModifiedBy>Youssef Kassabi</cp:lastModifiedBy>
  <cp:revision>4</cp:revision>
  <dcterms:created xsi:type="dcterms:W3CDTF">2026-06-04T15:31:29Z</dcterms:created>
  <dcterms:modified xsi:type="dcterms:W3CDTF">2026-06-05T15:32:27Z</dcterms:modified>
</cp:coreProperties>
</file>